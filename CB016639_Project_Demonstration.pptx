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1F4E79"/>
            </a:solidFill>
            <a:effectLst/>
          </c:spPr>
          <c:invertIfNegative val="0"/>
          <c:dLbls>
            <c:numFmt formatCode="0.000" sourceLinked="0"/>
            <c:txPr>
              <a:bodyPr/>
              <a:lstStyle/>
              <a:p>
                <a:pPr>
                  <a:defRPr b="0" i="0" strike="noStrike" sz="900" u="none">
                    <a:solidFill>
                      <a:srgbClr val="26262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Random Forest</c:v>
                  </c:pt>
                  <c:pt idx="1">
                    <c:v>XGBoost</c:v>
                  </c:pt>
                  <c:pt idx="2">
                    <c:v>Isolation Forest</c:v>
                  </c:pt>
                </c:lvl>
              </c:multiLvlStrCache>
            </c:multiLvlStrRef>
          </c:cat>
          <c:val>
            <c:numRef>
              <c:f>Sheet1!$B$2:$B$4</c:f>
              <c:numCache>
                <c:formatCode>General</c:formatCode>
                <c:ptCount val="3"/>
                <c:pt idx="0">
                  <c:v>0.965</c:v>
                </c:pt>
                <c:pt idx="1">
                  <c:v>0.9556</c:v>
                </c:pt>
                <c:pt idx="2">
                  <c:v>0.9156</c:v>
                </c:pt>
              </c:numCache>
            </c:numRef>
          </c:val>
        </c:ser>
        <c:ser>
          <c:idx val="1"/>
          <c:order val="1"/>
          <c:tx>
            <c:strRef>
              <c:f>Sheet1!$C$1</c:f>
              <c:strCache>
                <c:ptCount val="1"/>
                <c:pt idx="0">
                  <c:v>ROC-AUC</c:v>
                </c:pt>
              </c:strCache>
            </c:strRef>
          </c:tx>
          <c:spPr>
            <a:solidFill>
              <a:srgbClr val="2E75B6"/>
            </a:solidFill>
            <a:effectLst/>
          </c:spPr>
          <c:invertIfNegative val="0"/>
          <c:dLbls>
            <c:numFmt formatCode="0.000" sourceLinked="0"/>
            <c:txPr>
              <a:bodyPr/>
              <a:lstStyle/>
              <a:p>
                <a:pPr>
                  <a:defRPr b="0" i="0" strike="noStrike" sz="900" u="none">
                    <a:solidFill>
                      <a:srgbClr val="26262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Random Forest</c:v>
                  </c:pt>
                  <c:pt idx="1">
                    <c:v>XGBoost</c:v>
                  </c:pt>
                  <c:pt idx="2">
                    <c:v>Isolation Forest</c:v>
                  </c:pt>
                </c:lvl>
              </c:multiLvlStrCache>
            </c:multiLvlStrRef>
          </c:cat>
          <c:val>
            <c:numRef>
              <c:f>Sheet1!$C$2:$C$4</c:f>
              <c:numCache>
                <c:formatCode>General</c:formatCode>
                <c:ptCount val="3"/>
                <c:pt idx="0">
                  <c:v>0.9591</c:v>
                </c:pt>
                <c:pt idx="1">
                  <c:v>0.9763</c:v>
                </c:pt>
                <c:pt idx="2">
                  <c:v>0.8977</c:v>
                </c:pt>
              </c:numCache>
            </c:numRef>
          </c:val>
        </c:ser>
        <c:dLbls>
          <c:numFmt formatCode="0.000" sourceLinked="0"/>
          <c:txPr>
            <a:bodyPr/>
            <a:lstStyle/>
            <a:p>
              <a:pPr>
                <a:defRPr b="0" i="0" strike="noStrike" sz="900" u="none">
                  <a:solidFill>
                    <a:srgbClr val="26262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62626"/>
                </a:solidFill>
                <a:latin typeface="Calibri"/>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62626"/>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1F4E79"/>
            </a:solidFill>
            <a:effectLst/>
          </c:spPr>
          <c:invertIfNegative val="0"/>
          <c:dLbls>
            <c:numFmt formatCode="0.000" sourceLinked="0"/>
            <c:txPr>
              <a:bodyPr/>
              <a:lstStyle/>
              <a:p>
                <a:pPr>
                  <a:defRPr b="0" i="0" strike="noStrike" sz="900" u="none">
                    <a:solidFill>
                      <a:srgbClr val="262626"/>
                    </a:solidFill>
                    <a:latin typeface="Calibri"/>
                  </a:defRPr>
                </a:pPr>
              </a:p>
            </c:txPr>
            <c:showLegendKey val="0"/>
            <c:showVal val="1"/>
            <c:showCatName val="0"/>
            <c:showSerName val="0"/>
            <c:showPercent val="0"/>
            <c:showBubbleSize val="0"/>
            <c:showLeaderLines val="0"/>
          </c:dLbls>
          <c:cat>
            <c:multiLvlStrRef>
              <c:f>Sheet1!$A$2:$A$8</c:f>
              <c:multiLvlStrCache>
                <c:ptCount val="7"/>
                <c:lvl>
                  <c:pt idx="0">
                    <c:v>inter_arrival_time_var</c:v>
                  </c:pt>
                  <c:pt idx="1">
                    <c:v>payload_length</c:v>
                  </c:pt>
                  <c:pt idx="2">
                    <c:v>shannon_entropy</c:v>
                  </c:pt>
                  <c:pt idx="3">
                    <c:v>special_char_ratio</c:v>
                  </c:pt>
                  <c:pt idx="4">
                    <c:v>equals_count</c:v>
                  </c:pt>
                  <c:pt idx="5">
                    <c:v>sql_keyword_count</c:v>
                  </c:pt>
                  <c:pt idx="6">
                    <c:v>has_union_select</c:v>
                  </c:pt>
                </c:lvl>
              </c:multiLvlStrCache>
            </c:multiLvlStrRef>
          </c:cat>
          <c:val>
            <c:numRef>
              <c:f>Sheet1!$B$2:$B$8</c:f>
              <c:numCache>
                <c:formatCode>General</c:formatCode>
                <c:ptCount val="7"/>
                <c:pt idx="0">
                  <c:v>0.2869</c:v>
                </c:pt>
                <c:pt idx="1">
                  <c:v>0.2651</c:v>
                </c:pt>
                <c:pt idx="2">
                  <c:v>0.182</c:v>
                </c:pt>
                <c:pt idx="3">
                  <c:v>0.1325</c:v>
                </c:pt>
                <c:pt idx="4">
                  <c:v>0.0803</c:v>
                </c:pt>
                <c:pt idx="5">
                  <c:v>0.0186</c:v>
                </c:pt>
                <c:pt idx="6">
                  <c:v>0.0001</c:v>
                </c:pt>
              </c:numCache>
            </c:numRef>
          </c:val>
        </c:ser>
        <c:dLbls>
          <c:numFmt formatCode="0.000" sourceLinked="0"/>
          <c:txPr>
            <a:bodyPr/>
            <a:lstStyle/>
            <a:p>
              <a:pPr>
                <a:defRPr b="0" i="0" strike="noStrike" sz="900" u="none">
                  <a:solidFill>
                    <a:srgbClr val="26262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62626"/>
                </a:solidFill>
                <a:latin typeface="Calibri"/>
              </a:defRPr>
            </a:pPr>
            <a:endParaRPr lang="en-US"/>
          </a:p>
        </c:txPr>
        <c:crossAx val="2094734552"/>
        <c:crosses val="autoZero"/>
        <c:auto val="1"/>
        <c:lblAlgn val="ctr"/>
        <c:noMultiLvlLbl val="1"/>
      </c:catAx>
      <c:valAx>
        <c:axId val="2094734552"/>
        <c:scaling>
          <c:orientation val="minMax"/>
          <c:max val="0.32"/>
        </c:scaling>
        <c:delete val="0"/>
        <c:axPos val="b"/>
        <c:majorGridlines>
          <c:spPr>
            <a:ln w="9525"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Added latency (ms)</c:v>
                </c:pt>
              </c:strCache>
            </c:strRef>
          </c:tx>
          <c:spPr>
            <a:solidFill>
              <a:srgbClr val="2E75B6"/>
            </a:solidFill>
            <a:effectLst/>
          </c:spPr>
          <c:invertIfNegative val="0"/>
          <c:dLbls>
            <c:numFmt formatCode="0.0" sourceLinked="0"/>
            <c:txPr>
              <a:bodyPr/>
              <a:lstStyle/>
              <a:p>
                <a:pPr>
                  <a:defRPr b="0" i="0" strike="noStrike" sz="1000" u="none">
                    <a:solidFill>
                      <a:srgbClr val="26262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Rules only (p50)</c:v>
                  </c:pt>
                  <c:pt idx="1">
                    <c:v>Hybrid (p50)</c:v>
                  </c:pt>
                  <c:pt idx="2">
                    <c:v>Hybrid (p95)</c:v>
                  </c:pt>
                </c:lvl>
              </c:multiLvlStrCache>
            </c:multiLvlStrRef>
          </c:cat>
          <c:val>
            <c:numRef>
              <c:f>Sheet1!$B$2:$B$4</c:f>
              <c:numCache>
                <c:formatCode>General</c:formatCode>
                <c:ptCount val="3"/>
                <c:pt idx="0">
                  <c:v>6.1</c:v>
                </c:pt>
                <c:pt idx="1">
                  <c:v>47.7</c:v>
                </c:pt>
                <c:pt idx="2">
                  <c:v>51.3</c:v>
                </c:pt>
              </c:numCache>
            </c:numRef>
          </c:val>
        </c:ser>
        <c:dLbls>
          <c:numFmt formatCode="0.0" sourceLinked="0"/>
          <c:txPr>
            <a:bodyPr/>
            <a:lstStyle/>
            <a:p>
              <a:pPr>
                <a:defRPr b="0" i="0" strike="noStrike" sz="1000" u="none">
                  <a:solidFill>
                    <a:srgbClr val="26262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62626"/>
                </a:solidFill>
                <a:latin typeface="Calibri"/>
              </a:defRPr>
            </a:pPr>
            <a:endParaRPr lang="en-US"/>
          </a:p>
        </c:txPr>
        <c:crossAx val="2094734552"/>
        <c:crosses val="autoZero"/>
        <c:auto val="1"/>
        <c:lblAlgn val="ctr"/>
        <c:noMultiLvlLbl val="1"/>
      </c:catAx>
      <c:valAx>
        <c:axId val="2094734552"/>
        <c:scaling>
          <c:orientation val="minMax"/>
          <c:max val="110"/>
        </c:scaling>
        <c:delete val="0"/>
        <c:axPos val="l"/>
        <c:majorGridlines>
          <c:spPr>
            <a:ln w="9525" cap="flat">
              <a:solidFill>
                <a:srgbClr val="D9D9D9"/>
              </a:solidFill>
              <a:prstDash val="solid"/>
              <a:round/>
            </a:ln>
          </c:spPr>
        </c:majorGridlines>
        <c:title>
          <c:tx>
            <c:rich>
              <a:bodyPr/>
              <a:lstStyle/>
              <a:p>
                <a:pPr>
                  <a:defRPr sz="1000" b="0" i="0" u="none" strike="noStrike">
                    <a:solidFill>
                      <a:srgbClr val="595959"/>
                    </a:solidFill>
                    <a:latin typeface="Arial"/>
                  </a:defRPr>
                </a:pPr>
                <a:r>
                  <a:rPr sz="1000" b="0" i="0" u="none" strike="noStrike">
                    <a:solidFill>
                      <a:srgbClr val="595959"/>
                    </a:solidFill>
                    <a:latin typeface="Arial"/>
                  </a:rPr>
                  <a:t>milliseconds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and thank you for your time.
This presentation demonstrates my MSc implementation: a hybrid threat detection framework that sits in front of a REST API and decides, in real time, whether each incoming request is legitimate or an attack.
The word 'hybrid' is the core of the contribution. The system combines two different detection approaches: traditional signature rules, and machine learning. My central argument is that neither is sufficient on its own, and I will demonstrate that live rather than just assert it.
Everything I show today runs on my own machine against my own API. No external systems are involved, and no real user data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I'll spend most of the time on sections 3 and 5 - the design and the live results.
I want to flag section 2 in particular: before I show detection of anything, I will define each of the three attack types precisely, so that the results later are unambiguous.
Section 6 is deliberately included. I will state the limitations of this work openly rather than leave them to be discovered.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establishes the problem the framework is trying to solve, and why existing approaches leave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to make here.
First, APIs are now the front door of most applications. They expose business logic directly, which means an attacker no longer has to go through a web page to reach the data.
Second, SQL injection is not a solved problem. It has been in the OWASP Top 10 for over twenty years and still appears in breach reports. That persistence is itself interesting - it tells us the defence approach has limits.
Third, and this is important for my design: brute force and credential stuffing are not software bugs. They exploit the fact that people reuse passwords. You cannot patch your way out of them; you have to detect the behaviour.
The last point is the gap. Signature-based Web Application Firewalls are fast and you can explain exactly why they blocked something - but they can only recognise what has already been described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problem in one sentence: each approach fails in a different way, and those failures are complementary.
Rules miss what they were not told about. Machine learning catches more, but it is a black box and it makes mistakes on legitimate traffic - which in a security control is expensive, because blocking real customers is a real cost.
So the aim is not just to build a hybrid. It is specifically to MEASURE whether combining them actually beats either one alone. That measurement is the contribution - a hybrid that turned out to be worse would also be a valid finding, and I will show you a point in the project where it genuinely was worse before I fixed it.
The six objectives map directly onto the implementation phases you will see in the rest of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define each attack before showing any detection results, so the numbers later are unambiguous. Each definition is followed by a real payload from my test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injection: the attacker supplies text that the application mistakenly treats as part of a database command.
Walk through the table. The intended query searches products. The attacker submits a string containing UNION SELECT. Because the application concatenates the input directly into the query, the database now sees two commands joined together - and returns the usernames and passwords table.
The two single characters that make this work are the quote, which closes the intended string, and the double dash, which comments out whatever the application appended afterwards.
Important ethical point if asked: my test endpoint constructs this query and returns it for inspection, but NEVER executes it. There is no exploitable database behind it. That satisfies the ethics constraint of not building a genuinely vulnerable system, while still presenting a realistic attack surface.
I test six variants. The obfuscated family matters most - those are payloads specifically designed to evade signature matching, and I will return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Brute force: one username, many password guesses.
The key insight is on the right, and it drives a design decision. Look at any single row of that table in isolation - a login attempt with a wrong password. That is completely normal. Users mistype passwords constantly.
The attack only becomes visible when you look at the pattern: thirty attempts from the same source in a few seconds, nearly all failing.
So this cannot be detected by inspecting the payload. It requires behavioural features computed over a sliding time window - specifically request rate and login failure ratio.
This has a consequence I want to state before showing results: it is impossible to detect a brute force from the first request. Any honest system must wait until a pattern exists. When I show that my system blocks at attempt five, that is not a weakness - blocking at attempt one would mean locking out a customer who mistyped their password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Credential stuffing is often confused with brute force, so the comparison table is the important part of this slide.
Brute force is many passwords against ONE username. Credential stuffing is one password against MANY usernames - because the attacker already believes each password is correct, having taken it from a breach elsewhere.
That difference matters for detection. In credential stuffing, no single account accumulates many failures, so a per-account failure counter would never trigger. What gives it away is the breadth: one source trying an unusual number of DIFFERENT usernames in a short window.
On the ethics point, and I want to be explicit because it is the kind of thing that should be asked: my credential pairs are invented by a script from a fixed seed. I did not download a breach corpus. Using real leaked data would be both an ethics violation and unnecessary - the attack is characterised by the PATTERN of many usernames from one source, and synthetic pairs reproduce that pattern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how the system is put together, and exactly how a request becomes a block-or-allow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services. The API is the thing being protected. The ML service holds the models. The database is the audit record.
The three design decisions at the bottom are the ones I would defend.
First, detection is middleware. It sits in front of every route, so if I add a new endpoint tomorrow it is protected automatically. Security that depends on developers remembering to apply it will eventually fail.
Second, fail-open. If the ML service crashes, the API does not crash with it - it falls back to rules only. This is a deliberate trade-off: I am choosing to keep the site available and accept reduced detection, rather than block all traffic. For most business APIs that is the correct choice, but it is a choice, and it means an attacker who could cause an outage would also reduce my detection.
Third, models are mounted at runtime. This keeps the deployable image small and means retraining does not require rebuilding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system - worth taking slowly.
Step 1: the request becomes 17 numbers. I will show exactly what those are in a moment.
Step 2: the rule engine checks 15 signatures and produces a score.
Step 3 is a performance optimisation worth defending. If a high-severity rule has already fired - say, an unmistakable UNION SELECT - the verdict is already certain. Calling the machine-learning service could not change the outcome, so we skip it. That is what keeps the average cost low: the expensive path is reserved for the ambiguous cases.
Step 4: for everything else, the ML service scores the same feature vector.
Step 5: the two scores are combined and compared against the threshold of 0.70.
The box at the bottom is the fail-open policy. It is a non-functional requirement I set at the design stage: a security control must not be able to take the application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translation layer, and it is worth dwelling on because everything else depends on it.
Machine learning models do arithmetic. They cannot read text. So before anything can happen, each request has to become numbers.
Seventeen features: twelve describe the text itself, five describe recent behaviour from that source. The behavioural five are what make brute force and credential stuffing detectable at all - they cannot be computed from a single request.
The table shows the contrast. A normal product search is almost entirely zeros. The attack lights up on nearly every measure.
If asked about Shannon entropy: it is a measure from information theory of how varied the characters are. The word 'laptop' uses few distinct characters in a predictable pattern, so 2.25. The attack mixes letters, digits, quotes, spaces and symbols, so 4.48. Attack payloads are structurally messier than human search terms, and entropy captures that in one number.
One further point I am proud of: this extraction logic exists twice - in Python for training, in JavaScript for live detection. If they ever disagreed, the model would score inputs that do not mean what it learned. So I have an automated test comparing 240 values across both implementations, and it must show zero divergence before any change is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stages, side by side, with their strengths and weaknesses deliberately opposite.
The rule engine is 15 signatures. Each has a severity and a weight. They are fast - about 1 to 3 milliseconds - and completely explainable: when it blocks something, it names the rule.
The machine-learning stage is three models. Random Forest and XGBoost are supervised: they learned from labelled examples. Isolation Forest is different and worth mentioning - it is unsupervised, trained only on normal traffic, and flags anything that looks unlike normal. That means it can react to attack types that were never in my training labels.
Why three rather than one? They fail differently. XGBoost ranks best by ROC-AUC, Random Forest is more accurate at the operating point, and Isolation Forest covers the unknown-unknowns. Combining them hedges against any single model's blind spot.
Notice the strengths and weaknesses are complementary. That is the entire argument for the hybrid.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a design question a supervisor is likely to ask: why this particular formula?
The specification I started from suggested a weighted mean. I changed it, and the middle row of that table is why.
Consider a brute-force attack. The rule engine is certain - rate and failure ratio both trip, score 1.00. But the machine-learning models contribute nothing here, because the behavioural features are zero-filled in my training corpus. So the ML score is near zero.
Under a weighted mean, those average to 0.52 - which is BELOW my blocking threshold of 0.70. The system would allow an attack that the rules had already identified with complete certainty. The uninformed opinion cancels the informed one.
Noisy-OR does not have that failure mode. It treats the two stages as independent sources of evidence: either can raise the alarm on its own, and neither can veto the other. That is the correct semantics for a detection system.
This was a genuine design change made in response to a measured problem, not a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what was actually built, what data it learned from, and the methodology used to train and evaluate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conventional, current stack. Two rows are worth pausing on.
The feature extraction row: the same 17 features are computed in two languages - Python during training, JavaScript during live detection. That duplication is a risk, and I manage it with an automated parity test.
The SMOTE row: my data is imbalanced roughly 13 to 1 in favour of benign traffic. SMOTE generates synthetic minority examples to correct that. Critically, I apply it only to the training split, and inside cross-validation folds - never before splitting. Applying it beforehand would leak synthetic examples into the test set and inflate my results.
If asked why Docker Compose when I also run natively: Compose makes the whole stack reproducible on another machine with one command, which matters for the reproducibility claim. Both paths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public research datasets, unified into a single schema of 17 features. 677,166 rows in total.
Note the class imbalance: 630,000 benign against 47,000 attack, roughly 13 to 1. That is realistic - attacks are rare relative to normal traffic - but it means accuracy alone is a misleading metric, which I will come back to.
The held-out ATRDF set is methodologically important. Half a million records that the models have never seen, from a completely different source, reserved for testing whether the framework generalises beyond the data it learned from. That evaluation is future work, but the data is set aside and untouched.
The limitations at the bottom are stated deliberately. Most importantly, CICIDS2017 records do not carry per-request source addresses or timestamps, so several of my behavioural features are zero in the training data. That has a real consequence which I will show you honestly in the results section - it is not something I discovered late and hid.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methodology is where marks are won or lost, and where a weak project usually shows itself.
Every item here is a guard against producing results that look better than they are.
The three-way split gives me a validation set specifically so I can choose the decision threshold without touching the test data. If I had picked the threshold on the test split, my reported test results would be tuned to that data and therefore optimistic.
The scaler point is subtle but real: it is fitted on training data only. Fitting it on everything would leak the distribution of the test data into training.
SMOTE placement is the classic mistake in imbalanced-data work. If you oversample before splitting, synthetic copies of training rows end up in your test set and your scores become meaningless. Mine is applied after the split and inside CV folds.
Cross-validation agrees with the single split to within 0.001, which tells me the result is stable rather than a lucky partition.
And the fixed seed means all of this is reproducible - I verified that by retraining and getting identical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section. Everything here is measured, and the key claim is demonstrated live rather than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two metrics.
I want to be careful about how these are read, and I would rather raise it myself than have it raised for me.
Accuracy looks impressive - 96.5% for Random Forest. But my data is imbalanced 13 to 1. A model that simply allowed every single request would score about 93% accuracy while catching no attacks at all. So accuracy alone tells you very little here.
ROC-AUC is the more honest comparison because it is insensitive to class balance. On that measure XGBoost is strongest at 0.976.
Interestingly, Random Forest has the lower AUC but performs better at the specific threshold I deploy at. That is a good illustration of why you should evaluate at your operating point, not just by an aggregate curve - a point I will return to in the limitations.
In practice no single model is used alone; all three are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presentation, and it is the one I will demonstrate live.
The concern a supervisor should have is: how do I know the machine learning is genuinely making decisions, rather than being decoration over pattern matching that does all the real work?
This settles it in thirty seconds. I take one attack payload. I send it with the ML service running: blocked, combined score 0.96. I stop the ML container, send the byte-identical request again: allowed, score 0.50.
Look at the rule score column. It is 0.5000 in both runs - the rules found this payload mildly suspicious but not enough to act, because 0.50 is below my 0.70 threshold. On rules alone, this attack gets through.
The machine learning scored it 0.9618 and that is what stopped it.
No hardcoded logic can behave that way. If this were pattern matching pretending to be ML, the answer would be identical both times.
And there is a bonus point in the second row: when the ML service was down, the API did not crash. It kept serving on the rule verdict. That is the fail-open policy working as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technical evidence that the ML is doing something genuinely different from the rules.
Look at the bottom of the chart. The feature has_union_select - literally a flag for the most famous SQL injection signature in existence - has an importance of 0.0001. The model almost completely ignores it. And sql_keyword_count is only 0.019.
What the model actually relies on is at the top: how long the input is, how random the characters are, and how dense the punctuation is. Statistical texture, not vocabulary.
That is exactly the right division of labour. The rule engine already handles known keywords precisely and cheaply. There would be no value in the ML duplicating that. Instead it learned to judge the shape of the text, which is what allows it to flag a variant nobody wrote a rule for - like the one on the previous slide.
I want to point out the last bullet myself: the four behavioural features score exactly zero importance. That is a real limitation with a real cause, and I address it directly in the limitations section rather than leaving it in a chart for someone to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results come from traffic I generate myself against my own running API, with every request labelled at the moment it is sent - not classified afterwards. That matters: if I derived the labels from the system's own verdict, every configuration would score 100%.
The headline numbers: benign traffic almost entirely passes, all SQL injection is caught including the evasive variants, and both behavioural attacks are blocked once their pattern threshold is reached.
The obfuscated row of the lower-left table is the one I would highlight. Those are payloads specifically constructed to slip past keyword matching - comment markers chopping up the keywords, URL encoding, mixed case. Six out of six detected.
On the right I want to be explicit about how to read the behavioural results. Blocking at attempt five is correct behaviour, not a shortcoming. And my reported attack recall of 91.7% counts those first four undetectable attempts as failures - I could have reported a flattering number by excluding them, and chose not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have time for one substantial technical story, this is it - because it demonstrates measurement, diagnosis and a principled fix rather than assembly.
When I first ran representative benign traffic through the hybrid, it blocked 17.5% of it. Rules alone blocked zero. My contribution was worse than the baseline.
The diagnosis came from disaggregating. A single blended rate looked like a threshold problem. Broken down by endpoint it was obviously an authentication problem: 21 of 25 auth requests flagged, against 1 of 64 searches.
The cause: a password field is high-entropy and full of punctuation, which is precisely the statistical signature the model learned to associate with injection. It was scoring ordinary passwords at 0.92.
The intuitive fix is to raise the threshold. I tested it and it fails - by the time false positives are acceptable, the ML has stopped catching the injections that rules miss. There is no threshold that separates them, because the threshold was never the problem.
The real fix was recognising that the payload model's features describe a free-text query, and a password is not one. So it is applied only where it has signal. 17.5% down to 1.8%, with injection detection unchanged.
One subtle detail worth mentioning: before the fix, brute force appeared to be blocked at attempt one, which looks like excellent detection. It was the same bug. After fixing it, my reported attack recall went DOWN, from 99% to 91.7% - and the lower number is the honest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detection system that makes the API unusable is not deployable, so I set a non-functional requirement at design time: added latency must stay under 100 milliseconds.
The hybrid adds about 48 milliseconds at the median and 51 at the 95th percentile. Comfortably inside budget.
Rules alone are about eight times cheaper at 6 milliseconds. The difference is almost entirely the Random Forest, which costs around 16 milliseconds per prediction - it is a large model.
The short-circuit design pays off here: a request stopped by a high-severity rule never reaches the classifier and completes in 1 to 3 milliseconds. So the expensive path is reserved for genuinely ambiguous cases.
I want to state the limitation myself: this is one client on one machine, measured over a small number of requests. It is not a load test. Under real concurrent traffic these numbers would change, and I would not claim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limitations before being asked is the most useful thing I can do here. Every item that follows is genuine and documented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limitation is the most significant, and I would rather present it than have it found.
The four behavioural features carry exactly zero importance in the trained model. The cause is a data limitation: the public datasets I used do not carry per-request source addresses or timestamps, so those columns are zero-filled and the models correctly learned to ignore them.
The consequence, stated plainly: brute force and credential stuffing are detected entirely by the rule engine. The machine learning contributes nothing to two of my three target attack types. The hybrid is genuinely hybrid for SQL injection - I can prove that live - but for the behavioural attacks the rules carry the detection.
Second, my traffic is synthetic and generous. My simulated attacker does not adapt. A real attacker probes, notices what gets blocked, and changes approach. And real user input is far messier than my catalogue of thirty shopping queries.
Third, 1.8% sounds small, but at scale it is not. On a million requests a day that is eighteen thousand legitimate requests wrongly blocked. That would not be acceptable for a real e-commerce site without further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further limitations, briefly.
The in-memory state one has a real security consequence: because detection state is per-source, an attacker distributing their requests across many addresses would never accumulate a pattern in any single window, and the behavioural rules would not fire.
On generalisation: I set aside half a million records from a completely different dataset precisely to test whether this works beyond the data it learned from. That evaluation is not finished, so I do not claim generalisation.
The adversarial point is worth being honest about: my attacks are static. A real attacker adapts. Somebody with access to my responses could search for the threshold and stay underneath it - and my score headers, which are useful diagnostically, would be disabled in production for exactly that reason.
And the models are trained on datasets from 2010 to 2017. Attack techniques change; so does normal traffic. Without a retraining pipeline the system degrades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Four things this work establishes. A complete framework was built and evaluated end to end. The hybrid demonstrably catches attacks that rules alone allow through - and I can prove that by switching the ML off. The ML is doing something genuinely different from the rules rather than duplicating them. And measuring against representative traffic found a real defect that the corpus evaluation had missed.
That last point is the one I value most. Building representative benign traffic was not a formality to satisfy a deliverable - it was a measurement instrument that found a genuine problem.
The closing position on the right is deliberately balanced. I am claiming a measured improvement over the baseline. I am not claiming production readiness, and I have named the three specific reasons why not.
Claiming the strength and naming the limit in the same breath is the honest position, and it is the one I would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and I can run any part of the demonstration live.
Likely questions and short answers:
Why 0.70 as the threshold? Selected on a validation split the models never trained on, by maximising F1 - not hand-picked.
Is 96% accuracy good? On its own it is misleading, because the data is 13:1 benign. A model blocking nothing scores 93%. That is why I report AUC, precision, recall and false-positive rate separately.
What if the ML service crashes in production? Demonstrated: the API keeps serving on the rule verdict. Fail-open, a deliberate choice.
Could an attacker learn the threshold and stay below it? Yes, and I have not defended against it. Mitigations would be randomised thresholds or removing the diagnostic score headers.
How do you know the Python and JavaScript feature extractors agree? An automated parity test compares 240 values on every change and must show zero divergence.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737360"/>
            <a:ext cx="10424160" cy="1371600"/>
          </a:xfrm>
          <a:prstGeom prst="rect">
            <a:avLst/>
          </a:prstGeom>
          <a:noFill/>
          <a:ln/>
        </p:spPr>
        <p:txBody>
          <a:bodyPr wrap="square" lIns="0" tIns="0" rIns="0" bIns="0" rtlCol="0" anchor="ctr"/>
          <a:lstStyle/>
          <a:p>
            <a:pPr indent="0" marL="0">
              <a:buNone/>
            </a:pPr>
            <a:r>
              <a:rPr lang="en-US" sz="3600" b="1" dirty="0">
                <a:solidFill>
                  <a:srgbClr val="1F4E79"/>
                </a:solidFill>
                <a:latin typeface="Calibri" pitchFamily="34" charset="0"/>
                <a:ea typeface="Calibri" pitchFamily="34" charset="-122"/>
                <a:cs typeface="Calibri" pitchFamily="34" charset="-120"/>
              </a:rPr>
              <a:t>Intelligent Threat Detection and Prevention in REST APIs Using Machine Learning</a:t>
            </a:r>
            <a:endParaRPr lang="en-US" sz="3600" dirty="0"/>
          </a:p>
        </p:txBody>
      </p:sp>
      <p:sp>
        <p:nvSpPr>
          <p:cNvPr id="3" name="Text 1"/>
          <p:cNvSpPr txBox="1"/>
          <p:nvPr/>
        </p:nvSpPr>
        <p:spPr>
          <a:xfrm>
            <a:off x="548640" y="3154680"/>
            <a:ext cx="10058400" cy="731520"/>
          </a:xfrm>
          <a:prstGeom prst="rect">
            <a:avLst/>
          </a:prstGeom>
          <a:noFill/>
          <a:ln/>
        </p:spPr>
        <p:txBody>
          <a:bodyPr wrap="square" lIns="0" tIns="0" rIns="0" bIns="0" rtlCol="0" anchor="ctr"/>
          <a:lstStyle/>
          <a:p>
            <a:pPr indent="0" marL="0">
              <a:buNone/>
            </a:pPr>
            <a:r>
              <a:rPr lang="en-US" sz="1600" dirty="0">
                <a:solidFill>
                  <a:srgbClr val="595959"/>
                </a:solidFill>
                <a:latin typeface="Calibri" pitchFamily="34" charset="0"/>
                <a:ea typeface="Calibri" pitchFamily="34" charset="-122"/>
                <a:cs typeface="Calibri" pitchFamily="34" charset="-120"/>
              </a:rPr>
              <a:t>A hybrid rule-based and machine-learning framework for detecting SQL injection, brute force and credential stuffing attacks in real time</a:t>
            </a:r>
            <a:endParaRPr lang="en-US" sz="1600" dirty="0"/>
          </a:p>
        </p:txBody>
      </p:sp>
      <p:sp>
        <p:nvSpPr>
          <p:cNvPr id="4" name="Shape 2"/>
          <p:cNvSpPr/>
          <p:nvPr/>
        </p:nvSpPr>
        <p:spPr>
          <a:xfrm>
            <a:off x="548640" y="4069080"/>
            <a:ext cx="3657600" cy="0"/>
          </a:xfrm>
          <a:prstGeom prst="line">
            <a:avLst/>
          </a:prstGeom>
          <a:noFill/>
          <a:ln w="19050">
            <a:solidFill>
              <a:srgbClr val="2E75B6"/>
            </a:solidFill>
            <a:prstDash val="solid"/>
          </a:ln>
        </p:spPr>
      </p:sp>
      <p:sp>
        <p:nvSpPr>
          <p:cNvPr id="5" name="Text 3"/>
          <p:cNvSpPr txBox="1"/>
          <p:nvPr/>
        </p:nvSpPr>
        <p:spPr>
          <a:xfrm>
            <a:off x="548640" y="4343400"/>
            <a:ext cx="7315200" cy="1097280"/>
          </a:xfrm>
          <a:prstGeom prst="rect">
            <a:avLst/>
          </a:prstGeom>
          <a:noFill/>
          <a:ln/>
        </p:spPr>
        <p:txBody>
          <a:bodyPr wrap="square" lIns="0" tIns="0" rIns="0" bIns="0" rtlCol="0" anchor="ctr"/>
          <a:lstStyle/>
          <a:p>
            <a:pPr indent="0" marL="0">
              <a:lnSpc>
                <a:spcPct val="120000"/>
              </a:lnSpc>
              <a:buNone/>
            </a:pPr>
            <a:r>
              <a:rPr lang="en-US" sz="1400" b="1" dirty="0">
                <a:solidFill>
                  <a:srgbClr val="262626"/>
                </a:solidFill>
                <a:latin typeface="Calibri" pitchFamily="34" charset="0"/>
                <a:ea typeface="Calibri" pitchFamily="34" charset="-122"/>
                <a:cs typeface="Calibri" pitchFamily="34" charset="-120"/>
              </a:rPr>
              <a:t>MSc Cyber Security  |  Implementation Demonstration</a:t>
            </a:r>
            <a:endParaRPr lang="en-US" sz="1400" dirty="0"/>
          </a:p>
          <a:p>
            <a:pPr indent="0" marL="0">
              <a:lnSpc>
                <a:spcPct val="120000"/>
              </a:lnSpc>
              <a:buNone/>
            </a:pPr>
            <a:r>
              <a:rPr lang="en-US" sz="1300" dirty="0">
                <a:solidFill>
                  <a:srgbClr val="595959"/>
                </a:solidFill>
                <a:latin typeface="Calibri" pitchFamily="34" charset="0"/>
                <a:ea typeface="Calibri" pitchFamily="34" charset="-122"/>
                <a:cs typeface="Calibri" pitchFamily="34" charset="-120"/>
              </a:rPr>
              <a:t>Student ID: CB016639</a:t>
            </a:r>
            <a:endParaRPr lang="en-US" sz="1400" dirty="0"/>
          </a:p>
          <a:p>
            <a:pPr indent="0" marL="0">
              <a:lnSpc>
                <a:spcPct val="120000"/>
              </a:lnSpc>
              <a:buNone/>
            </a:pPr>
            <a:r>
              <a:rPr lang="en-US" sz="1300" dirty="0">
                <a:solidFill>
                  <a:srgbClr val="595959"/>
                </a:solidFill>
                <a:latin typeface="Calibri" pitchFamily="34" charset="0"/>
                <a:ea typeface="Calibri" pitchFamily="34" charset="-122"/>
                <a:cs typeface="Calibri" pitchFamily="34" charset="-120"/>
              </a:rPr>
              <a:t>APIIT / Staffordshire University</a:t>
            </a:r>
            <a:endParaRPr lang="en-US" sz="1400" dirty="0"/>
          </a:p>
        </p:txBody>
      </p:sp>
      <p:sp>
        <p:nvSpPr>
          <p:cNvPr id="6" name="Text 4"/>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7" name="Text 5"/>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Agenda</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548640" y="1344168"/>
            <a:ext cx="457200" cy="457200"/>
          </a:xfrm>
          <a:prstGeom prst="rect">
            <a:avLst/>
          </a:prstGeom>
          <a:noFill/>
          <a:ln/>
        </p:spPr>
        <p:txBody>
          <a:bodyPr wrap="square" lIns="0" tIns="0" rIns="0" bIns="0" rtlCol="0" anchor="ctr"/>
          <a:lstStyle/>
          <a:p>
            <a:pPr algn="ctr" indent="0" marL="0">
              <a:buNone/>
            </a:pPr>
            <a:r>
              <a:rPr lang="en-US" sz="2000" b="1" dirty="0">
                <a:solidFill>
                  <a:srgbClr val="2E75B6"/>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097280" y="1325880"/>
            <a:ext cx="5486400" cy="274320"/>
          </a:xfrm>
          <a:prstGeom prst="rect">
            <a:avLst/>
          </a:prstGeom>
          <a:noFill/>
          <a:ln/>
        </p:spPr>
        <p:txBody>
          <a:bodyPr wrap="square" lIns="0" tIns="0" rIns="0" bIns="0" rtlCol="0" anchor="ctr"/>
          <a:lstStyle/>
          <a:p>
            <a:pPr indent="0" marL="0">
              <a:buNone/>
            </a:pPr>
            <a:r>
              <a:rPr lang="en-US" sz="1700" b="1" dirty="0">
                <a:solidFill>
                  <a:srgbClr val="262626"/>
                </a:solidFill>
                <a:latin typeface="Calibri" pitchFamily="34" charset="0"/>
                <a:ea typeface="Calibri" pitchFamily="34" charset="-122"/>
                <a:cs typeface="Calibri" pitchFamily="34" charset="-120"/>
              </a:rPr>
              <a:t>Introduction and Research Problem</a:t>
            </a:r>
            <a:endParaRPr lang="en-US" sz="1700" dirty="0"/>
          </a:p>
        </p:txBody>
      </p:sp>
      <p:sp>
        <p:nvSpPr>
          <p:cNvPr id="7" name="Text 5"/>
          <p:cNvSpPr txBox="1"/>
          <p:nvPr/>
        </p:nvSpPr>
        <p:spPr>
          <a:xfrm>
            <a:off x="1097280" y="1581912"/>
            <a:ext cx="8686800" cy="256032"/>
          </a:xfrm>
          <a:prstGeom prst="rect">
            <a:avLst/>
          </a:prstGeom>
          <a:noFill/>
          <a:ln/>
        </p:spPr>
        <p:txBody>
          <a:bodyPr wrap="square" lIns="0" tIns="0" rIns="0" bIns="0" rtlCol="0" anchor="ctr"/>
          <a:lstStyle/>
          <a:p>
            <a:pPr indent="0" marL="0">
              <a:buNone/>
            </a:pPr>
            <a:r>
              <a:rPr lang="en-US" sz="1300" dirty="0">
                <a:solidFill>
                  <a:srgbClr val="595959"/>
                </a:solidFill>
                <a:latin typeface="Calibri" pitchFamily="34" charset="0"/>
                <a:ea typeface="Calibri" pitchFamily="34" charset="-122"/>
                <a:cs typeface="Calibri" pitchFamily="34" charset="-120"/>
              </a:rPr>
              <a:t>Why API security, and what gap this work addresses</a:t>
            </a:r>
            <a:endParaRPr lang="en-US" sz="1300" dirty="0"/>
          </a:p>
        </p:txBody>
      </p:sp>
      <p:sp>
        <p:nvSpPr>
          <p:cNvPr id="8" name="Text 6"/>
          <p:cNvSpPr txBox="1"/>
          <p:nvPr/>
        </p:nvSpPr>
        <p:spPr>
          <a:xfrm>
            <a:off x="548640" y="2103120"/>
            <a:ext cx="457200" cy="457200"/>
          </a:xfrm>
          <a:prstGeom prst="rect">
            <a:avLst/>
          </a:prstGeom>
          <a:noFill/>
          <a:ln/>
        </p:spPr>
        <p:txBody>
          <a:bodyPr wrap="square" lIns="0" tIns="0" rIns="0" bIns="0" rtlCol="0" anchor="ctr"/>
          <a:lstStyle/>
          <a:p>
            <a:pPr algn="ctr" indent="0" marL="0">
              <a:buNone/>
            </a:pPr>
            <a:r>
              <a:rPr lang="en-US" sz="2000" b="1" dirty="0">
                <a:solidFill>
                  <a:srgbClr val="2E75B6"/>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097280" y="2084832"/>
            <a:ext cx="5486400" cy="274320"/>
          </a:xfrm>
          <a:prstGeom prst="rect">
            <a:avLst/>
          </a:prstGeom>
          <a:noFill/>
          <a:ln/>
        </p:spPr>
        <p:txBody>
          <a:bodyPr wrap="square" lIns="0" tIns="0" rIns="0" bIns="0" rtlCol="0" anchor="ctr"/>
          <a:lstStyle/>
          <a:p>
            <a:pPr indent="0" marL="0">
              <a:buNone/>
            </a:pPr>
            <a:r>
              <a:rPr lang="en-US" sz="1700" b="1" dirty="0">
                <a:solidFill>
                  <a:srgbClr val="262626"/>
                </a:solidFill>
                <a:latin typeface="Calibri" pitchFamily="34" charset="0"/>
                <a:ea typeface="Calibri" pitchFamily="34" charset="-122"/>
                <a:cs typeface="Calibri" pitchFamily="34" charset="-120"/>
              </a:rPr>
              <a:t>Attack Types Addressed</a:t>
            </a:r>
            <a:endParaRPr lang="en-US" sz="1700" dirty="0"/>
          </a:p>
        </p:txBody>
      </p:sp>
      <p:sp>
        <p:nvSpPr>
          <p:cNvPr id="10" name="Text 8"/>
          <p:cNvSpPr txBox="1"/>
          <p:nvPr/>
        </p:nvSpPr>
        <p:spPr>
          <a:xfrm>
            <a:off x="1097280" y="2340864"/>
            <a:ext cx="8686800" cy="256032"/>
          </a:xfrm>
          <a:prstGeom prst="rect">
            <a:avLst/>
          </a:prstGeom>
          <a:noFill/>
          <a:ln/>
        </p:spPr>
        <p:txBody>
          <a:bodyPr wrap="square" lIns="0" tIns="0" rIns="0" bIns="0" rtlCol="0" anchor="ctr"/>
          <a:lstStyle/>
          <a:p>
            <a:pPr indent="0" marL="0">
              <a:buNone/>
            </a:pPr>
            <a:r>
              <a:rPr lang="en-US" sz="1300" dirty="0">
                <a:solidFill>
                  <a:srgbClr val="595959"/>
                </a:solidFill>
                <a:latin typeface="Calibri" pitchFamily="34" charset="0"/>
                <a:ea typeface="Calibri" pitchFamily="34" charset="-122"/>
                <a:cs typeface="Calibri" pitchFamily="34" charset="-120"/>
              </a:rPr>
              <a:t>Definitions and worked examples of the three attacks</a:t>
            </a:r>
            <a:endParaRPr lang="en-US" sz="1300" dirty="0"/>
          </a:p>
        </p:txBody>
      </p:sp>
      <p:sp>
        <p:nvSpPr>
          <p:cNvPr id="11" name="Text 9"/>
          <p:cNvSpPr txBox="1"/>
          <p:nvPr/>
        </p:nvSpPr>
        <p:spPr>
          <a:xfrm>
            <a:off x="548640" y="2862072"/>
            <a:ext cx="457200" cy="457200"/>
          </a:xfrm>
          <a:prstGeom prst="rect">
            <a:avLst/>
          </a:prstGeom>
          <a:noFill/>
          <a:ln/>
        </p:spPr>
        <p:txBody>
          <a:bodyPr wrap="square" lIns="0" tIns="0" rIns="0" bIns="0" rtlCol="0" anchor="ctr"/>
          <a:lstStyle/>
          <a:p>
            <a:pPr algn="ctr" indent="0" marL="0">
              <a:buNone/>
            </a:pPr>
            <a:r>
              <a:rPr lang="en-US" sz="2000" b="1" dirty="0">
                <a:solidFill>
                  <a:srgbClr val="2E75B6"/>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097280" y="2843784"/>
            <a:ext cx="5486400" cy="274320"/>
          </a:xfrm>
          <a:prstGeom prst="rect">
            <a:avLst/>
          </a:prstGeom>
          <a:noFill/>
          <a:ln/>
        </p:spPr>
        <p:txBody>
          <a:bodyPr wrap="square" lIns="0" tIns="0" rIns="0" bIns="0" rtlCol="0" anchor="ctr"/>
          <a:lstStyle/>
          <a:p>
            <a:pPr indent="0" marL="0">
              <a:buNone/>
            </a:pPr>
            <a:r>
              <a:rPr lang="en-US" sz="1700" b="1" dirty="0">
                <a:solidFill>
                  <a:srgbClr val="262626"/>
                </a:solidFill>
                <a:latin typeface="Calibri" pitchFamily="34" charset="0"/>
                <a:ea typeface="Calibri" pitchFamily="34" charset="-122"/>
                <a:cs typeface="Calibri" pitchFamily="34" charset="-120"/>
              </a:rPr>
              <a:t>System Design</a:t>
            </a:r>
            <a:endParaRPr lang="en-US" sz="1700" dirty="0"/>
          </a:p>
        </p:txBody>
      </p:sp>
      <p:sp>
        <p:nvSpPr>
          <p:cNvPr id="13" name="Text 11"/>
          <p:cNvSpPr txBox="1"/>
          <p:nvPr/>
        </p:nvSpPr>
        <p:spPr>
          <a:xfrm>
            <a:off x="1097280" y="3099816"/>
            <a:ext cx="8686800" cy="256032"/>
          </a:xfrm>
          <a:prstGeom prst="rect">
            <a:avLst/>
          </a:prstGeom>
          <a:noFill/>
          <a:ln/>
        </p:spPr>
        <p:txBody>
          <a:bodyPr wrap="square" lIns="0" tIns="0" rIns="0" bIns="0" rtlCol="0" anchor="ctr"/>
          <a:lstStyle/>
          <a:p>
            <a:pPr indent="0" marL="0">
              <a:buNone/>
            </a:pPr>
            <a:r>
              <a:rPr lang="en-US" sz="1300" dirty="0">
                <a:solidFill>
                  <a:srgbClr val="595959"/>
                </a:solidFill>
                <a:latin typeface="Calibri" pitchFamily="34" charset="0"/>
                <a:ea typeface="Calibri" pitchFamily="34" charset="-122"/>
                <a:cs typeface="Calibri" pitchFamily="34" charset="-120"/>
              </a:rPr>
              <a:t>Architecture, detection pipeline, and how decisions are made</a:t>
            </a:r>
            <a:endParaRPr lang="en-US" sz="1300" dirty="0"/>
          </a:p>
        </p:txBody>
      </p:sp>
      <p:sp>
        <p:nvSpPr>
          <p:cNvPr id="14" name="Text 12"/>
          <p:cNvSpPr txBox="1"/>
          <p:nvPr/>
        </p:nvSpPr>
        <p:spPr>
          <a:xfrm>
            <a:off x="548640" y="3621024"/>
            <a:ext cx="457200" cy="457200"/>
          </a:xfrm>
          <a:prstGeom prst="rect">
            <a:avLst/>
          </a:prstGeom>
          <a:noFill/>
          <a:ln/>
        </p:spPr>
        <p:txBody>
          <a:bodyPr wrap="square" lIns="0" tIns="0" rIns="0" bIns="0" rtlCol="0" anchor="ctr"/>
          <a:lstStyle/>
          <a:p>
            <a:pPr algn="ctr" indent="0" marL="0">
              <a:buNone/>
            </a:pPr>
            <a:r>
              <a:rPr lang="en-US" sz="2000" b="1" dirty="0">
                <a:solidFill>
                  <a:srgbClr val="2E75B6"/>
                </a:solidFill>
                <a:latin typeface="Calibri" pitchFamily="34" charset="0"/>
                <a:ea typeface="Calibri" pitchFamily="34" charset="-122"/>
                <a:cs typeface="Calibri" pitchFamily="34" charset="-120"/>
              </a:rPr>
              <a:t>4</a:t>
            </a:r>
            <a:endParaRPr lang="en-US" sz="2000" dirty="0"/>
          </a:p>
        </p:txBody>
      </p:sp>
      <p:sp>
        <p:nvSpPr>
          <p:cNvPr id="15" name="Text 13"/>
          <p:cNvSpPr txBox="1"/>
          <p:nvPr/>
        </p:nvSpPr>
        <p:spPr>
          <a:xfrm>
            <a:off x="1097280" y="3602736"/>
            <a:ext cx="5486400" cy="274320"/>
          </a:xfrm>
          <a:prstGeom prst="rect">
            <a:avLst/>
          </a:prstGeom>
          <a:noFill/>
          <a:ln/>
        </p:spPr>
        <p:txBody>
          <a:bodyPr wrap="square" lIns="0" tIns="0" rIns="0" bIns="0" rtlCol="0" anchor="ctr"/>
          <a:lstStyle/>
          <a:p>
            <a:pPr indent="0" marL="0">
              <a:buNone/>
            </a:pPr>
            <a:r>
              <a:rPr lang="en-US" sz="1700" b="1" dirty="0">
                <a:solidFill>
                  <a:srgbClr val="262626"/>
                </a:solidFill>
                <a:latin typeface="Calibri" pitchFamily="34" charset="0"/>
                <a:ea typeface="Calibri" pitchFamily="34" charset="-122"/>
                <a:cs typeface="Calibri" pitchFamily="34" charset="-120"/>
              </a:rPr>
              <a:t>Implementation and Data</a:t>
            </a:r>
            <a:endParaRPr lang="en-US" sz="1700" dirty="0"/>
          </a:p>
        </p:txBody>
      </p:sp>
      <p:sp>
        <p:nvSpPr>
          <p:cNvPr id="16" name="Text 14"/>
          <p:cNvSpPr txBox="1"/>
          <p:nvPr/>
        </p:nvSpPr>
        <p:spPr>
          <a:xfrm>
            <a:off x="1097280" y="3858768"/>
            <a:ext cx="8686800" cy="256032"/>
          </a:xfrm>
          <a:prstGeom prst="rect">
            <a:avLst/>
          </a:prstGeom>
          <a:noFill/>
          <a:ln/>
        </p:spPr>
        <p:txBody>
          <a:bodyPr wrap="square" lIns="0" tIns="0" rIns="0" bIns="0" rtlCol="0" anchor="ctr"/>
          <a:lstStyle/>
          <a:p>
            <a:pPr indent="0" marL="0">
              <a:buNone/>
            </a:pPr>
            <a:r>
              <a:rPr lang="en-US" sz="1300" dirty="0">
                <a:solidFill>
                  <a:srgbClr val="595959"/>
                </a:solidFill>
                <a:latin typeface="Calibri" pitchFamily="34" charset="0"/>
                <a:ea typeface="Calibri" pitchFamily="34" charset="-122"/>
                <a:cs typeface="Calibri" pitchFamily="34" charset="-120"/>
              </a:rPr>
              <a:t>Technology stack, datasets, and training methodology</a:t>
            </a:r>
            <a:endParaRPr lang="en-US" sz="1300" dirty="0"/>
          </a:p>
        </p:txBody>
      </p:sp>
      <p:sp>
        <p:nvSpPr>
          <p:cNvPr id="17" name="Text 15"/>
          <p:cNvSpPr txBox="1"/>
          <p:nvPr/>
        </p:nvSpPr>
        <p:spPr>
          <a:xfrm>
            <a:off x="548640" y="4379976"/>
            <a:ext cx="457200" cy="457200"/>
          </a:xfrm>
          <a:prstGeom prst="rect">
            <a:avLst/>
          </a:prstGeom>
          <a:noFill/>
          <a:ln/>
        </p:spPr>
        <p:txBody>
          <a:bodyPr wrap="square" lIns="0" tIns="0" rIns="0" bIns="0" rtlCol="0" anchor="ctr"/>
          <a:lstStyle/>
          <a:p>
            <a:pPr algn="ctr" indent="0" marL="0">
              <a:buNone/>
            </a:pPr>
            <a:r>
              <a:rPr lang="en-US" sz="2000" b="1" dirty="0">
                <a:solidFill>
                  <a:srgbClr val="2E75B6"/>
                </a:solidFill>
                <a:latin typeface="Calibri" pitchFamily="34" charset="0"/>
                <a:ea typeface="Calibri" pitchFamily="34" charset="-122"/>
                <a:cs typeface="Calibri" pitchFamily="34" charset="-120"/>
              </a:rPr>
              <a:t>5</a:t>
            </a:r>
            <a:endParaRPr lang="en-US" sz="2000" dirty="0"/>
          </a:p>
        </p:txBody>
      </p:sp>
      <p:sp>
        <p:nvSpPr>
          <p:cNvPr id="18" name="Text 16"/>
          <p:cNvSpPr txBox="1"/>
          <p:nvPr/>
        </p:nvSpPr>
        <p:spPr>
          <a:xfrm>
            <a:off x="1097280" y="4361688"/>
            <a:ext cx="5486400" cy="274320"/>
          </a:xfrm>
          <a:prstGeom prst="rect">
            <a:avLst/>
          </a:prstGeom>
          <a:noFill/>
          <a:ln/>
        </p:spPr>
        <p:txBody>
          <a:bodyPr wrap="square" lIns="0" tIns="0" rIns="0" bIns="0" rtlCol="0" anchor="ctr"/>
          <a:lstStyle/>
          <a:p>
            <a:pPr indent="0" marL="0">
              <a:buNone/>
            </a:pPr>
            <a:r>
              <a:rPr lang="en-US" sz="1700" b="1" dirty="0">
                <a:solidFill>
                  <a:srgbClr val="262626"/>
                </a:solidFill>
                <a:latin typeface="Calibri" pitchFamily="34" charset="0"/>
                <a:ea typeface="Calibri" pitchFamily="34" charset="-122"/>
                <a:cs typeface="Calibri" pitchFamily="34" charset="-120"/>
              </a:rPr>
              <a:t>Results and Live Demonstration</a:t>
            </a:r>
            <a:endParaRPr lang="en-US" sz="1700" dirty="0"/>
          </a:p>
        </p:txBody>
      </p:sp>
      <p:sp>
        <p:nvSpPr>
          <p:cNvPr id="19" name="Text 17"/>
          <p:cNvSpPr txBox="1"/>
          <p:nvPr/>
        </p:nvSpPr>
        <p:spPr>
          <a:xfrm>
            <a:off x="1097280" y="4617720"/>
            <a:ext cx="8686800" cy="256032"/>
          </a:xfrm>
          <a:prstGeom prst="rect">
            <a:avLst/>
          </a:prstGeom>
          <a:noFill/>
          <a:ln/>
        </p:spPr>
        <p:txBody>
          <a:bodyPr wrap="square" lIns="0" tIns="0" rIns="0" bIns="0" rtlCol="0" anchor="ctr"/>
          <a:lstStyle/>
          <a:p>
            <a:pPr indent="0" marL="0">
              <a:buNone/>
            </a:pPr>
            <a:r>
              <a:rPr lang="en-US" sz="1300" dirty="0">
                <a:solidFill>
                  <a:srgbClr val="595959"/>
                </a:solidFill>
                <a:latin typeface="Calibri" pitchFamily="34" charset="0"/>
                <a:ea typeface="Calibri" pitchFamily="34" charset="-122"/>
                <a:cs typeface="Calibri" pitchFamily="34" charset="-120"/>
              </a:rPr>
              <a:t>Measured performance and proof the ML is engaged</a:t>
            </a:r>
            <a:endParaRPr lang="en-US" sz="1300" dirty="0"/>
          </a:p>
        </p:txBody>
      </p:sp>
      <p:sp>
        <p:nvSpPr>
          <p:cNvPr id="20" name="Text 18"/>
          <p:cNvSpPr txBox="1"/>
          <p:nvPr/>
        </p:nvSpPr>
        <p:spPr>
          <a:xfrm>
            <a:off x="548640" y="5138928"/>
            <a:ext cx="457200" cy="457200"/>
          </a:xfrm>
          <a:prstGeom prst="rect">
            <a:avLst/>
          </a:prstGeom>
          <a:noFill/>
          <a:ln/>
        </p:spPr>
        <p:txBody>
          <a:bodyPr wrap="square" lIns="0" tIns="0" rIns="0" bIns="0" rtlCol="0" anchor="ctr"/>
          <a:lstStyle/>
          <a:p>
            <a:pPr algn="ctr" indent="0" marL="0">
              <a:buNone/>
            </a:pPr>
            <a:r>
              <a:rPr lang="en-US" sz="2000" b="1" dirty="0">
                <a:solidFill>
                  <a:srgbClr val="2E75B6"/>
                </a:solidFill>
                <a:latin typeface="Calibri" pitchFamily="34" charset="0"/>
                <a:ea typeface="Calibri" pitchFamily="34" charset="-122"/>
                <a:cs typeface="Calibri" pitchFamily="34" charset="-120"/>
              </a:rPr>
              <a:t>6</a:t>
            </a:r>
            <a:endParaRPr lang="en-US" sz="2000" dirty="0"/>
          </a:p>
        </p:txBody>
      </p:sp>
      <p:sp>
        <p:nvSpPr>
          <p:cNvPr id="21" name="Text 19"/>
          <p:cNvSpPr txBox="1"/>
          <p:nvPr/>
        </p:nvSpPr>
        <p:spPr>
          <a:xfrm>
            <a:off x="1097280" y="5120640"/>
            <a:ext cx="5486400" cy="274320"/>
          </a:xfrm>
          <a:prstGeom prst="rect">
            <a:avLst/>
          </a:prstGeom>
          <a:noFill/>
          <a:ln/>
        </p:spPr>
        <p:txBody>
          <a:bodyPr wrap="square" lIns="0" tIns="0" rIns="0" bIns="0" rtlCol="0" anchor="ctr"/>
          <a:lstStyle/>
          <a:p>
            <a:pPr indent="0" marL="0">
              <a:buNone/>
            </a:pPr>
            <a:r>
              <a:rPr lang="en-US" sz="1700" b="1" dirty="0">
                <a:solidFill>
                  <a:srgbClr val="262626"/>
                </a:solidFill>
                <a:latin typeface="Calibri" pitchFamily="34" charset="0"/>
                <a:ea typeface="Calibri" pitchFamily="34" charset="-122"/>
                <a:cs typeface="Calibri" pitchFamily="34" charset="-120"/>
              </a:rPr>
              <a:t>Limitations and Conclusion</a:t>
            </a:r>
            <a:endParaRPr lang="en-US" sz="1700" dirty="0"/>
          </a:p>
        </p:txBody>
      </p:sp>
      <p:sp>
        <p:nvSpPr>
          <p:cNvPr id="22" name="Text 20"/>
          <p:cNvSpPr txBox="1"/>
          <p:nvPr/>
        </p:nvSpPr>
        <p:spPr>
          <a:xfrm>
            <a:off x="1097280" y="5376672"/>
            <a:ext cx="8686800" cy="256032"/>
          </a:xfrm>
          <a:prstGeom prst="rect">
            <a:avLst/>
          </a:prstGeom>
          <a:noFill/>
          <a:ln/>
        </p:spPr>
        <p:txBody>
          <a:bodyPr wrap="square" lIns="0" tIns="0" rIns="0" bIns="0" rtlCol="0" anchor="ctr"/>
          <a:lstStyle/>
          <a:p>
            <a:pPr indent="0" marL="0">
              <a:buNone/>
            </a:pPr>
            <a:r>
              <a:rPr lang="en-US" sz="1300" dirty="0">
                <a:solidFill>
                  <a:srgbClr val="595959"/>
                </a:solidFill>
                <a:latin typeface="Calibri" pitchFamily="34" charset="0"/>
                <a:ea typeface="Calibri" pitchFamily="34" charset="-122"/>
                <a:cs typeface="Calibri" pitchFamily="34" charset="-120"/>
              </a:rPr>
              <a:t>Honest constraints and future work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indent="0" marL="0">
              <a:buNone/>
            </a:pPr>
            <a:r>
              <a:rPr lang="en-US" sz="1400" b="1" spc="200" kern="0" dirty="0">
                <a:solidFill>
                  <a:srgbClr val="2E75B6"/>
                </a:solidFill>
                <a:latin typeface="Calibri" pitchFamily="34" charset="0"/>
                <a:ea typeface="Calibri" pitchFamily="34" charset="-122"/>
                <a:cs typeface="Calibri" pitchFamily="34" charset="-120"/>
              </a:rPr>
              <a:t>SECTION 1</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indent="0" marL="0">
              <a:buNone/>
            </a:pPr>
            <a:r>
              <a:rPr lang="en-US" sz="3800" b="1" dirty="0">
                <a:solidFill>
                  <a:srgbClr val="1F4E79"/>
                </a:solidFill>
                <a:latin typeface="Calibri" pitchFamily="34" charset="0"/>
                <a:ea typeface="Calibri" pitchFamily="34" charset="-122"/>
                <a:cs typeface="Calibri" pitchFamily="34" charset="-120"/>
              </a:rPr>
              <a:t>Introduction and Research Problem</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indent="0" marL="0">
              <a:buNone/>
            </a:pPr>
            <a:r>
              <a:rPr lang="en-US" sz="1500" dirty="0">
                <a:solidFill>
                  <a:srgbClr val="595959"/>
                </a:solidFill>
                <a:latin typeface="Calibri" pitchFamily="34" charset="0"/>
                <a:ea typeface="Calibri" pitchFamily="34" charset="-122"/>
                <a:cs typeface="Calibri" pitchFamily="34" charset="-120"/>
              </a:rPr>
              <a:t>Why REST API security needs more than signature matching</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Background and Motivation</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4</a:t>
            </a:r>
            <a:endParaRPr lang="en-US" sz="900" dirty="0"/>
          </a:p>
        </p:txBody>
      </p:sp>
      <p:sp>
        <p:nvSpPr>
          <p:cNvPr id="5" name="Text 3"/>
          <p:cNvSpPr txBox="1"/>
          <p:nvPr/>
        </p:nvSpPr>
        <p:spPr>
          <a:xfrm>
            <a:off x="548640" y="1207008"/>
            <a:ext cx="11091672" cy="4754880"/>
          </a:xfrm>
          <a:prstGeom prst="rect">
            <a:avLst/>
          </a:prstGeom>
          <a:noFill/>
          <a:ln/>
        </p:spPr>
        <p:txBody>
          <a:bodyPr wrap="square" rtlCol="0" anchor="t"/>
          <a:lstStyle/>
          <a:p>
            <a:pPr marL="342900" indent="-342900">
              <a:spcAft>
                <a:spcPts val="600"/>
              </a:spcAft>
              <a:buSzPct val="100000"/>
              <a:buChar char="•"/>
            </a:pPr>
            <a:r>
              <a:rPr lang="en-US" sz="1450" b="1" dirty="0">
                <a:solidFill>
                  <a:srgbClr val="262626"/>
                </a:solidFill>
                <a:latin typeface="Calibri" pitchFamily="34" charset="0"/>
                <a:ea typeface="Calibri" pitchFamily="34" charset="-122"/>
                <a:cs typeface="Calibri" pitchFamily="34" charset="-120"/>
              </a:rPr>
              <a:t>REST APIs now carry the majority of application traffic</a:t>
            </a:r>
            <a:endParaRPr lang="en-US" sz="1450" dirty="0"/>
          </a:p>
          <a:p>
            <a:pPr lvl="1" marL="508000" indent="-254000">
              <a:spcAft>
                <a:spcPts val="400"/>
              </a:spcAft>
              <a:buSzPct val="100000"/>
              <a:buChar char="•"/>
            </a:pPr>
            <a:r>
              <a:rPr lang="en-US" sz="1450" dirty="0">
                <a:solidFill>
                  <a:srgbClr val="262626"/>
                </a:solidFill>
                <a:latin typeface="Calibri" pitchFamily="34" charset="0"/>
                <a:ea typeface="Calibri" pitchFamily="34" charset="-122"/>
                <a:cs typeface="Calibri" pitchFamily="34" charset="-120"/>
              </a:rPr>
              <a:t>Web and mobile applications expose business logic and data directly through APIs, making them a primary target rather than a secondary one.</a:t>
            </a:r>
            <a:endParaRPr lang="en-US" sz="1450" dirty="0"/>
          </a:p>
          <a:p>
            <a:pPr marL="342900" indent="-342900">
              <a:spcAft>
                <a:spcPts val="600"/>
              </a:spcAft>
              <a:buSzPct val="100000"/>
              <a:buChar char="•"/>
            </a:pPr>
            <a:r>
              <a:rPr lang="en-US" sz="1450" b="1" dirty="0">
                <a:solidFill>
                  <a:srgbClr val="262626"/>
                </a:solidFill>
                <a:latin typeface="Calibri" pitchFamily="34" charset="0"/>
                <a:ea typeface="Calibri" pitchFamily="34" charset="-122"/>
                <a:cs typeface="Calibri" pitchFamily="34" charset="-120"/>
              </a:rPr>
              <a:t>Injection remains a persistent, high-impact threat</a:t>
            </a:r>
            <a:endParaRPr lang="en-US" sz="1450" dirty="0"/>
          </a:p>
          <a:p>
            <a:pPr lvl="1" marL="508000" indent="-254000">
              <a:spcAft>
                <a:spcPts val="400"/>
              </a:spcAft>
              <a:buSzPct val="100000"/>
              <a:buChar char="•"/>
            </a:pPr>
            <a:r>
              <a:rPr lang="en-US" sz="1450" dirty="0">
                <a:solidFill>
                  <a:srgbClr val="262626"/>
                </a:solidFill>
                <a:latin typeface="Calibri" pitchFamily="34" charset="0"/>
                <a:ea typeface="Calibri" pitchFamily="34" charset="-122"/>
                <a:cs typeface="Calibri" pitchFamily="34" charset="-120"/>
              </a:rPr>
              <a:t>SQL injection has featured in the OWASP Top 10 for over two decades and still causes major breaches, despite being well understood.</a:t>
            </a:r>
            <a:endParaRPr lang="en-US" sz="1450" dirty="0"/>
          </a:p>
          <a:p>
            <a:pPr marL="342900" indent="-342900">
              <a:spcAft>
                <a:spcPts val="600"/>
              </a:spcAft>
              <a:buSzPct val="100000"/>
              <a:buChar char="•"/>
            </a:pPr>
            <a:r>
              <a:rPr lang="en-US" sz="1450" b="1" dirty="0">
                <a:solidFill>
                  <a:srgbClr val="262626"/>
                </a:solidFill>
                <a:latin typeface="Calibri" pitchFamily="34" charset="0"/>
                <a:ea typeface="Calibri" pitchFamily="34" charset="-122"/>
                <a:cs typeface="Calibri" pitchFamily="34" charset="-120"/>
              </a:rPr>
              <a:t>Credential-based attacks exploit human behaviour, not code defects</a:t>
            </a:r>
            <a:endParaRPr lang="en-US" sz="1450" dirty="0"/>
          </a:p>
          <a:p>
            <a:pPr lvl="1" marL="508000" indent="-254000">
              <a:spcAft>
                <a:spcPts val="400"/>
              </a:spcAft>
              <a:buSzPct val="100000"/>
              <a:buChar char="•"/>
            </a:pPr>
            <a:r>
              <a:rPr lang="en-US" sz="1450" dirty="0">
                <a:solidFill>
                  <a:srgbClr val="262626"/>
                </a:solidFill>
                <a:latin typeface="Calibri" pitchFamily="34" charset="0"/>
                <a:ea typeface="Calibri" pitchFamily="34" charset="-122"/>
                <a:cs typeface="Calibri" pitchFamily="34" charset="-120"/>
              </a:rPr>
              <a:t>Brute force and credential stuffing succeed because of password reuse and weak passwords, so patching software does not eliminate them.</a:t>
            </a:r>
            <a:endParaRPr lang="en-US" sz="1450" dirty="0"/>
          </a:p>
          <a:p>
            <a:pPr marL="342900" indent="-342900">
              <a:spcAft>
                <a:spcPts val="600"/>
              </a:spcAft>
              <a:buSzPct val="100000"/>
              <a:buChar char="•"/>
            </a:pPr>
            <a:r>
              <a:rPr lang="en-US" sz="1450" b="1" dirty="0">
                <a:solidFill>
                  <a:srgbClr val="262626"/>
                </a:solidFill>
                <a:latin typeface="Calibri" pitchFamily="34" charset="0"/>
                <a:ea typeface="Calibri" pitchFamily="34" charset="-122"/>
                <a:cs typeface="Calibri" pitchFamily="34" charset="-120"/>
              </a:rPr>
              <a:t>Traditional defences are largely signature-based</a:t>
            </a:r>
            <a:endParaRPr lang="en-US" sz="1450" dirty="0"/>
          </a:p>
          <a:p>
            <a:pPr lvl="1" marL="508000" indent="-254000">
              <a:spcAft>
                <a:spcPts val="400"/>
              </a:spcAft>
              <a:buSzPct val="100000"/>
              <a:buChar char="•"/>
            </a:pPr>
            <a:r>
              <a:rPr lang="en-US" sz="1450" dirty="0">
                <a:solidFill>
                  <a:srgbClr val="262626"/>
                </a:solidFill>
                <a:latin typeface="Calibri" pitchFamily="34" charset="0"/>
                <a:ea typeface="Calibri" pitchFamily="34" charset="-122"/>
                <a:cs typeface="Calibri" pitchFamily="34" charset="-120"/>
              </a:rPr>
              <a:t>Web Application Firewalls match known attack patterns. They are fast and explainable, but blind to any variant nobody has written a rule for.</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Research Problem, Aim and Objectives</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5</a:t>
            </a:r>
            <a:endParaRPr lang="en-US" sz="900" dirty="0"/>
          </a:p>
        </p:txBody>
      </p:sp>
      <p:sp>
        <p:nvSpPr>
          <p:cNvPr id="5" name="Text 3"/>
          <p:cNvSpPr txBox="1"/>
          <p:nvPr/>
        </p:nvSpPr>
        <p:spPr>
          <a:xfrm>
            <a:off x="548640" y="1207008"/>
            <a:ext cx="530352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Research Problem</a:t>
            </a:r>
            <a:endParaRPr lang="en-US" sz="1600" dirty="0"/>
          </a:p>
        </p:txBody>
      </p:sp>
      <p:sp>
        <p:nvSpPr>
          <p:cNvPr id="6" name="Shape 4"/>
          <p:cNvSpPr/>
          <p:nvPr/>
        </p:nvSpPr>
        <p:spPr>
          <a:xfrm>
            <a:off x="548640" y="1536192"/>
            <a:ext cx="5349240" cy="1371600"/>
          </a:xfrm>
          <a:prstGeom prst="rect">
            <a:avLst/>
          </a:prstGeom>
          <a:solidFill>
            <a:srgbClr val="F2F6FA"/>
          </a:solidFill>
          <a:ln w="9525">
            <a:solidFill>
              <a:srgbClr val="BFBFBF"/>
            </a:solidFill>
            <a:prstDash val="solid"/>
          </a:ln>
        </p:spPr>
      </p:sp>
      <p:sp>
        <p:nvSpPr>
          <p:cNvPr id="7" name="Text 5"/>
          <p:cNvSpPr txBox="1"/>
          <p:nvPr/>
        </p:nvSpPr>
        <p:spPr>
          <a:xfrm>
            <a:off x="685800" y="1645920"/>
            <a:ext cx="5074920" cy="1152144"/>
          </a:xfrm>
          <a:prstGeom prst="rect">
            <a:avLst/>
          </a:prstGeom>
          <a:noFill/>
          <a:ln/>
        </p:spPr>
        <p:txBody>
          <a:bodyPr wrap="square" lIns="0" tIns="0" rIns="0" bIns="0" rtlCol="0" anchor="t"/>
          <a:lstStyle/>
          <a:p>
            <a:pPr indent="0" marL="0">
              <a:buNone/>
            </a:pPr>
            <a:r>
              <a:rPr lang="en-US" sz="1300" dirty="0">
                <a:solidFill>
                  <a:srgbClr val="262626"/>
                </a:solidFill>
                <a:latin typeface="Calibri" pitchFamily="34" charset="0"/>
                <a:ea typeface="Calibri" pitchFamily="34" charset="-122"/>
                <a:cs typeface="Calibri" pitchFamily="34" charset="-120"/>
              </a:rPr>
              <a:t>Signature-based detection cannot catch attack variants it has not seen. Purely machine-learning detection is opaque and produces false positives that block legitimate users. Neither approach alone is adequate for production API defence.</a:t>
            </a:r>
            <a:endParaRPr lang="en-US" sz="1300" dirty="0"/>
          </a:p>
        </p:txBody>
      </p:sp>
      <p:sp>
        <p:nvSpPr>
          <p:cNvPr id="8" name="Text 6"/>
          <p:cNvSpPr txBox="1"/>
          <p:nvPr/>
        </p:nvSpPr>
        <p:spPr>
          <a:xfrm>
            <a:off x="548640" y="3081528"/>
            <a:ext cx="530352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Aim</a:t>
            </a:r>
            <a:endParaRPr lang="en-US" sz="1600" dirty="0"/>
          </a:p>
        </p:txBody>
      </p:sp>
      <p:sp>
        <p:nvSpPr>
          <p:cNvPr id="9" name="Shape 7"/>
          <p:cNvSpPr/>
          <p:nvPr/>
        </p:nvSpPr>
        <p:spPr>
          <a:xfrm>
            <a:off x="548640" y="3410712"/>
            <a:ext cx="5349240" cy="1051560"/>
          </a:xfrm>
          <a:prstGeom prst="rect">
            <a:avLst/>
          </a:prstGeom>
          <a:solidFill>
            <a:srgbClr val="F2F6FA"/>
          </a:solidFill>
          <a:ln w="9525">
            <a:solidFill>
              <a:srgbClr val="BFBFBF"/>
            </a:solidFill>
            <a:prstDash val="solid"/>
          </a:ln>
        </p:spPr>
      </p:sp>
      <p:sp>
        <p:nvSpPr>
          <p:cNvPr id="10" name="Text 8"/>
          <p:cNvSpPr txBox="1"/>
          <p:nvPr/>
        </p:nvSpPr>
        <p:spPr>
          <a:xfrm>
            <a:off x="685800" y="3520440"/>
            <a:ext cx="5074920" cy="832104"/>
          </a:xfrm>
          <a:prstGeom prst="rect">
            <a:avLst/>
          </a:prstGeom>
          <a:noFill/>
          <a:ln/>
        </p:spPr>
        <p:txBody>
          <a:bodyPr wrap="square" lIns="0" tIns="0" rIns="0" bIns="0" rtlCol="0" anchor="t"/>
          <a:lstStyle/>
          <a:p>
            <a:pPr indent="0" marL="0">
              <a:buNone/>
            </a:pPr>
            <a:r>
              <a:rPr lang="en-US" sz="1300" dirty="0">
                <a:solidFill>
                  <a:srgbClr val="262626"/>
                </a:solidFill>
                <a:latin typeface="Calibri" pitchFamily="34" charset="0"/>
                <a:ea typeface="Calibri" pitchFamily="34" charset="-122"/>
                <a:cs typeface="Calibri" pitchFamily="34" charset="-120"/>
              </a:rPr>
              <a:t>To design, implement and evaluate a hybrid framework that combines rule-based and machine-learning detection, and to measure whether the combination outperforms either component alone.</a:t>
            </a:r>
            <a:endParaRPr lang="en-US" sz="1300" dirty="0"/>
          </a:p>
        </p:txBody>
      </p:sp>
      <p:sp>
        <p:nvSpPr>
          <p:cNvPr id="11" name="Text 9"/>
          <p:cNvSpPr txBox="1"/>
          <p:nvPr/>
        </p:nvSpPr>
        <p:spPr>
          <a:xfrm>
            <a:off x="6309360" y="1207008"/>
            <a:ext cx="530352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Objectives</a:t>
            </a:r>
            <a:endParaRPr lang="en-US" sz="1600" dirty="0"/>
          </a:p>
        </p:txBody>
      </p:sp>
      <p:sp>
        <p:nvSpPr>
          <p:cNvPr id="12" name="Text 10"/>
          <p:cNvSpPr txBox="1"/>
          <p:nvPr/>
        </p:nvSpPr>
        <p:spPr>
          <a:xfrm>
            <a:off x="6309360" y="1572768"/>
            <a:ext cx="5349240" cy="2926080"/>
          </a:xfrm>
          <a:prstGeom prst="rect">
            <a:avLst/>
          </a:prstGeom>
          <a:noFill/>
          <a:ln/>
        </p:spPr>
        <p:txBody>
          <a:bodyPr wrap="square" rtlCol="0" anchor="t"/>
          <a:lstStyle/>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Unify public research datasets into one labelled corpus</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Define a shared feature contract used by both training and live detection</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Implement a rule engine for known attack signatures</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Train and evaluate machine-learning classifiers</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Combine both stages into a single decision</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Evaluate against generated attack and benign traffic</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indent="0" marL="0">
              <a:buNone/>
            </a:pPr>
            <a:r>
              <a:rPr lang="en-US" sz="1400" b="1" spc="200" kern="0" dirty="0">
                <a:solidFill>
                  <a:srgbClr val="2E75B6"/>
                </a:solidFill>
                <a:latin typeface="Calibri" pitchFamily="34" charset="0"/>
                <a:ea typeface="Calibri" pitchFamily="34" charset="-122"/>
                <a:cs typeface="Calibri" pitchFamily="34" charset="-120"/>
              </a:rPr>
              <a:t>SECTION 2</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indent="0" marL="0">
              <a:buNone/>
            </a:pPr>
            <a:r>
              <a:rPr lang="en-US" sz="3800" b="1" dirty="0">
                <a:solidFill>
                  <a:srgbClr val="1F4E79"/>
                </a:solidFill>
                <a:latin typeface="Calibri" pitchFamily="34" charset="0"/>
                <a:ea typeface="Calibri" pitchFamily="34" charset="-122"/>
                <a:cs typeface="Calibri" pitchFamily="34" charset="-120"/>
              </a:rPr>
              <a:t>Attack Types Addressed</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indent="0" marL="0">
              <a:buNone/>
            </a:pPr>
            <a:r>
              <a:rPr lang="en-US" sz="1500" dirty="0">
                <a:solidFill>
                  <a:srgbClr val="595959"/>
                </a:solidFill>
                <a:latin typeface="Calibri" pitchFamily="34" charset="0"/>
                <a:ea typeface="Calibri" pitchFamily="34" charset="-122"/>
                <a:cs typeface="Calibri" pitchFamily="34" charset="-120"/>
              </a:rPr>
              <a:t>Definitions and worked examples of the three attacks in scope</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Attack Type 1: SQL Injection (SQLi)</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7</a:t>
            </a:r>
            <a:endParaRPr lang="en-US" sz="900" dirty="0"/>
          </a:p>
        </p:txBody>
      </p:sp>
      <p:sp>
        <p:nvSpPr>
          <p:cNvPr id="5" name="Text 3"/>
          <p:cNvSpPr txBox="1"/>
          <p:nvPr/>
        </p:nvSpPr>
        <p:spPr>
          <a:xfrm>
            <a:off x="548640" y="12070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Definition</a:t>
            </a:r>
            <a:endParaRPr lang="en-US" sz="1600" dirty="0"/>
          </a:p>
        </p:txBody>
      </p:sp>
      <p:sp>
        <p:nvSpPr>
          <p:cNvPr id="6" name="Shape 4"/>
          <p:cNvSpPr/>
          <p:nvPr/>
        </p:nvSpPr>
        <p:spPr>
          <a:xfrm>
            <a:off x="548640" y="1536192"/>
            <a:ext cx="11091672" cy="777240"/>
          </a:xfrm>
          <a:prstGeom prst="rect">
            <a:avLst/>
          </a:prstGeom>
          <a:solidFill>
            <a:srgbClr val="F2F6FA"/>
          </a:solidFill>
          <a:ln w="9525">
            <a:solidFill>
              <a:srgbClr val="BFBFBF"/>
            </a:solidFill>
            <a:prstDash val="solid"/>
          </a:ln>
        </p:spPr>
      </p:sp>
      <p:sp>
        <p:nvSpPr>
          <p:cNvPr id="7" name="Text 5"/>
          <p:cNvSpPr txBox="1"/>
          <p:nvPr/>
        </p:nvSpPr>
        <p:spPr>
          <a:xfrm>
            <a:off x="685800" y="1627632"/>
            <a:ext cx="10817352" cy="621792"/>
          </a:xfrm>
          <a:prstGeom prst="rect">
            <a:avLst/>
          </a:prstGeom>
          <a:noFill/>
          <a:ln/>
        </p:spPr>
        <p:txBody>
          <a:bodyPr wrap="square" lIns="0" tIns="0" rIns="0" bIns="0" rtlCol="0" anchor="ctr"/>
          <a:lstStyle/>
          <a:p>
            <a:pPr indent="0" marL="0">
              <a:buNone/>
            </a:pPr>
            <a:r>
              <a:rPr lang="en-US" sz="1400" dirty="0">
                <a:solidFill>
                  <a:srgbClr val="262626"/>
                </a:solidFill>
                <a:latin typeface="Calibri" pitchFamily="34" charset="0"/>
                <a:ea typeface="Calibri" pitchFamily="34" charset="-122"/>
                <a:cs typeface="Calibri" pitchFamily="34" charset="-120"/>
              </a:rPr>
              <a:t>An attack in which malicious SQL fragments are inserted into user input. If the application builds its database query by joining strings together, the attacker's text becomes part of the query itself - allowing data to be read, modified or destroyed.</a:t>
            </a:r>
            <a:endParaRPr lang="en-US" sz="1400" dirty="0"/>
          </a:p>
        </p:txBody>
      </p:sp>
      <p:sp>
        <p:nvSpPr>
          <p:cNvPr id="8" name="Text 6"/>
          <p:cNvSpPr txBox="1"/>
          <p:nvPr/>
        </p:nvSpPr>
        <p:spPr>
          <a:xfrm>
            <a:off x="548640" y="2505456"/>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Worked example</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11091672" cy="914400"/>
        </p:xfrm>
        <a:graphic>
          <a:graphicData uri="http://schemas.openxmlformats.org/drawingml/2006/table">
            <a:tbl>
              <a:tblPr/>
              <a:tblGrid>
                <a:gridCol w="2194560"/>
                <a:gridCol w="8897112"/>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6576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Intended query</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62626"/>
                          </a:solidFill>
                          <a:latin typeface="Consolas" pitchFamily="34" charset="0"/>
                          <a:ea typeface="Consolas" pitchFamily="34" charset="-122"/>
                          <a:cs typeface="Consolas" pitchFamily="34" charset="-120"/>
                        </a:rPr>
                        <a:t>SELECT * FROM products WHERE name LIKE '%laptop%'</a:t>
                      </a:r>
                      <a:endParaRPr lang="en-US" sz="115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Attacker input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150" b="1" dirty="0">
                          <a:solidFill>
                            <a:srgbClr val="C00000"/>
                          </a:solidFill>
                          <a:latin typeface="Consolas" pitchFamily="34" charset="0"/>
                          <a:ea typeface="Consolas" pitchFamily="34" charset="-122"/>
                          <a:cs typeface="Consolas" pitchFamily="34" charset="-120"/>
                        </a:rPr>
                        <a:t>' UNION SELECT username, password FROM users --</a:t>
                      </a:r>
                      <a:endParaRPr lang="en-US" sz="115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6576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Resulting query</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62626"/>
                          </a:solidFill>
                          <a:latin typeface="Consolas" pitchFamily="34" charset="0"/>
                          <a:ea typeface="Consolas" pitchFamily="34" charset="-122"/>
                          <a:cs typeface="Consolas" pitchFamily="34" charset="-120"/>
                        </a:rPr>
                        <a:t>SELECT * FROM products WHERE name LIKE '%' UNION SELECT username, password FROM users --%'</a:t>
                      </a:r>
                      <a:endParaRPr lang="en-US" sz="115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Consequence</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The query returns the entire credentials table instead of products</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bl>
          </a:graphicData>
        </a:graphic>
      </p:graphicFrame>
      <p:sp>
        <p:nvSpPr>
          <p:cNvPr id="10" name="Text 7"/>
          <p:cNvSpPr txBox="1"/>
          <p:nvPr/>
        </p:nvSpPr>
        <p:spPr>
          <a:xfrm>
            <a:off x="548640" y="449884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Variants covered in this project</a:t>
            </a:r>
            <a:endParaRPr lang="en-US" sz="1600" dirty="0"/>
          </a:p>
        </p:txBody>
      </p:sp>
      <p:sp>
        <p:nvSpPr>
          <p:cNvPr id="11" name="Text 8"/>
          <p:cNvSpPr txBox="1"/>
          <p:nvPr/>
        </p:nvSpPr>
        <p:spPr>
          <a:xfrm>
            <a:off x="548640" y="4828032"/>
            <a:ext cx="11091672" cy="566928"/>
          </a:xfrm>
          <a:prstGeom prst="rect">
            <a:avLst/>
          </a:prstGeom>
          <a:noFill/>
          <a:ln/>
        </p:spPr>
        <p:txBody>
          <a:bodyPr wrap="square" lIns="0" tIns="0" rIns="0" bIns="0" rtlCol="0" anchor="t"/>
          <a:lstStyle/>
          <a:p>
            <a:pPr indent="0" marL="0">
              <a:buNone/>
            </a:pPr>
            <a:r>
              <a:rPr lang="en-US" sz="1300" dirty="0">
                <a:solidFill>
                  <a:srgbClr val="262626"/>
                </a:solidFill>
                <a:latin typeface="Calibri" pitchFamily="34" charset="0"/>
                <a:ea typeface="Calibri" pitchFamily="34" charset="-122"/>
                <a:cs typeface="Calibri" pitchFamily="34" charset="-120"/>
              </a:rPr>
              <a:t>Tautology  ·  Union-based  ·  Comment-terminated  ·  Stacked queries  ·  Obfuscated / encoded  ·  Blind (boolean and time-based)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Attack Type 2: Brute Force</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8</a:t>
            </a:r>
            <a:endParaRPr lang="en-US" sz="900" dirty="0"/>
          </a:p>
        </p:txBody>
      </p:sp>
      <p:sp>
        <p:nvSpPr>
          <p:cNvPr id="5" name="Text 3"/>
          <p:cNvSpPr txBox="1"/>
          <p:nvPr/>
        </p:nvSpPr>
        <p:spPr>
          <a:xfrm>
            <a:off x="548640" y="12070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Definition</a:t>
            </a:r>
            <a:endParaRPr lang="en-US" sz="1600" dirty="0"/>
          </a:p>
        </p:txBody>
      </p:sp>
      <p:sp>
        <p:nvSpPr>
          <p:cNvPr id="6" name="Shape 4"/>
          <p:cNvSpPr/>
          <p:nvPr/>
        </p:nvSpPr>
        <p:spPr>
          <a:xfrm>
            <a:off x="548640" y="1536192"/>
            <a:ext cx="11091672" cy="777240"/>
          </a:xfrm>
          <a:prstGeom prst="rect">
            <a:avLst/>
          </a:prstGeom>
          <a:solidFill>
            <a:srgbClr val="F2F6FA"/>
          </a:solidFill>
          <a:ln w="9525">
            <a:solidFill>
              <a:srgbClr val="BFBFBF"/>
            </a:solidFill>
            <a:prstDash val="solid"/>
          </a:ln>
        </p:spPr>
      </p:sp>
      <p:sp>
        <p:nvSpPr>
          <p:cNvPr id="7" name="Text 5"/>
          <p:cNvSpPr txBox="1"/>
          <p:nvPr/>
        </p:nvSpPr>
        <p:spPr>
          <a:xfrm>
            <a:off x="685800" y="1627632"/>
            <a:ext cx="10817352" cy="621792"/>
          </a:xfrm>
          <a:prstGeom prst="rect">
            <a:avLst/>
          </a:prstGeom>
          <a:noFill/>
          <a:ln/>
        </p:spPr>
        <p:txBody>
          <a:bodyPr wrap="square" lIns="0" tIns="0" rIns="0" bIns="0" rtlCol="0" anchor="ctr"/>
          <a:lstStyle/>
          <a:p>
            <a:pPr indent="0" marL="0">
              <a:buNone/>
            </a:pPr>
            <a:r>
              <a:rPr lang="en-US" sz="1400" dirty="0">
                <a:solidFill>
                  <a:srgbClr val="262626"/>
                </a:solidFill>
                <a:latin typeface="Calibri" pitchFamily="34" charset="0"/>
                <a:ea typeface="Calibri" pitchFamily="34" charset="-122"/>
                <a:cs typeface="Calibri" pitchFamily="34" charset="-120"/>
              </a:rPr>
              <a:t>An attack in which many different passwords are tried in rapid succession against a single known username, until one succeeds. It targets weak or guessable passwords, and relies on volume rather than on any flaw in the application code.</a:t>
            </a:r>
            <a:endParaRPr lang="en-US" sz="1400" dirty="0"/>
          </a:p>
        </p:txBody>
      </p:sp>
      <p:sp>
        <p:nvSpPr>
          <p:cNvPr id="8" name="Text 6"/>
          <p:cNvSpPr txBox="1"/>
          <p:nvPr/>
        </p:nvSpPr>
        <p:spPr>
          <a:xfrm>
            <a:off x="548640" y="2505456"/>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What the attack looks like</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5349240" cy="914400"/>
        </p:xfrm>
        <a:graphic>
          <a:graphicData uri="http://schemas.openxmlformats.org/drawingml/2006/table">
            <a:tbl>
              <a:tblPr/>
              <a:tblGrid>
                <a:gridCol w="1097280"/>
                <a:gridCol w="1828800"/>
                <a:gridCol w="2423160"/>
              </a:tblGrid>
              <a:tr h="31089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Attempt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Username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Password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10896">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onsolas" pitchFamily="34" charset="0"/>
                          <a:ea typeface="Consolas" pitchFamily="34" charset="-122"/>
                          <a:cs typeface="Consolas" pitchFamily="34" charset="-120"/>
                        </a:rPr>
                        <a:t>123456</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00" dirty="0">
                          <a:solidFill>
                            <a:srgbClr val="262626"/>
                          </a:solidFill>
                          <a:latin typeface="Consolas" pitchFamily="34" charset="0"/>
                          <a:ea typeface="Consolas" pitchFamily="34" charset="-122"/>
                          <a:cs typeface="Consolas" pitchFamily="34" charset="-120"/>
                        </a:rPr>
                        <a:t>password</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10896">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onsolas" pitchFamily="34" charset="0"/>
                          <a:ea typeface="Consolas" pitchFamily="34" charset="-122"/>
                          <a:cs typeface="Consolas" pitchFamily="34" charset="-120"/>
                        </a:rPr>
                        <a:t>qwerty</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00" dirty="0">
                          <a:solidFill>
                            <a:srgbClr val="262626"/>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10896">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onsolas" pitchFamily="34" charset="0"/>
                          <a:ea typeface="Consolas" pitchFamily="34" charset="-122"/>
                          <a:cs typeface="Consolas" pitchFamily="34" charset="-120"/>
                        </a:rPr>
                        <a:t>letmein</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291072" y="2505456"/>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Why payload inspection fails here</a:t>
            </a:r>
            <a:endParaRPr lang="en-US" sz="1600" dirty="0"/>
          </a:p>
        </p:txBody>
      </p:sp>
      <p:sp>
        <p:nvSpPr>
          <p:cNvPr id="11" name="Text 8"/>
          <p:cNvSpPr txBox="1"/>
          <p:nvPr/>
        </p:nvSpPr>
        <p:spPr>
          <a:xfrm>
            <a:off x="6291072" y="2834640"/>
            <a:ext cx="5349240" cy="2926080"/>
          </a:xfrm>
          <a:prstGeom prst="rect">
            <a:avLst/>
          </a:prstGeom>
          <a:noFill/>
          <a:ln/>
        </p:spPr>
        <p:txBody>
          <a:bodyPr wrap="square" rtlCol="0" anchor="t"/>
          <a:lstStyle/>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No single request is malicious. A wrong password is an ordinary, everyday event.</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The attack exists only in the pattern across many requests from one source.</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Detection must therefore be behavioural: request rate, and the ratio of failed to successful logins within a time window.</a:t>
            </a:r>
            <a:endParaRPr lang="en-US" sz="1350" dirty="0"/>
          </a:p>
          <a:p>
            <a:pPr marL="342900" indent="-342900">
              <a:spcAft>
                <a:spcPts val="800"/>
              </a:spcAft>
              <a:buSzPct val="100000"/>
              <a:buChar char="•"/>
            </a:pPr>
            <a:r>
              <a:rPr lang="en-US" sz="1350" b="1" dirty="0">
                <a:solidFill>
                  <a:srgbClr val="1F4E79"/>
                </a:solidFill>
                <a:latin typeface="Calibri" pitchFamily="34" charset="0"/>
                <a:ea typeface="Calibri" pitchFamily="34" charset="-122"/>
                <a:cs typeface="Calibri" pitchFamily="34" charset="-120"/>
              </a:rPr>
              <a:t>Consequence: this attack cannot be identified from one request.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Attack Type 3: Credential Stuffing</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9</a:t>
            </a:r>
            <a:endParaRPr lang="en-US" sz="900" dirty="0"/>
          </a:p>
        </p:txBody>
      </p:sp>
      <p:sp>
        <p:nvSpPr>
          <p:cNvPr id="5" name="Text 3"/>
          <p:cNvSpPr txBox="1"/>
          <p:nvPr/>
        </p:nvSpPr>
        <p:spPr>
          <a:xfrm>
            <a:off x="548640" y="12070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Definition</a:t>
            </a:r>
            <a:endParaRPr lang="en-US" sz="1600" dirty="0"/>
          </a:p>
        </p:txBody>
      </p:sp>
      <p:sp>
        <p:nvSpPr>
          <p:cNvPr id="6" name="Shape 4"/>
          <p:cNvSpPr/>
          <p:nvPr/>
        </p:nvSpPr>
        <p:spPr>
          <a:xfrm>
            <a:off x="548640" y="1536192"/>
            <a:ext cx="11091672" cy="777240"/>
          </a:xfrm>
          <a:prstGeom prst="rect">
            <a:avLst/>
          </a:prstGeom>
          <a:solidFill>
            <a:srgbClr val="F2F6FA"/>
          </a:solidFill>
          <a:ln w="9525">
            <a:solidFill>
              <a:srgbClr val="BFBFBF"/>
            </a:solidFill>
            <a:prstDash val="solid"/>
          </a:ln>
        </p:spPr>
      </p:sp>
      <p:sp>
        <p:nvSpPr>
          <p:cNvPr id="7" name="Text 5"/>
          <p:cNvSpPr txBox="1"/>
          <p:nvPr/>
        </p:nvSpPr>
        <p:spPr>
          <a:xfrm>
            <a:off x="685800" y="1627632"/>
            <a:ext cx="10817352" cy="621792"/>
          </a:xfrm>
          <a:prstGeom prst="rect">
            <a:avLst/>
          </a:prstGeom>
          <a:noFill/>
          <a:ln/>
        </p:spPr>
        <p:txBody>
          <a:bodyPr wrap="square" lIns="0" tIns="0" rIns="0" bIns="0" rtlCol="0" anchor="ctr"/>
          <a:lstStyle/>
          <a:p>
            <a:pPr indent="0" marL="0">
              <a:buNone/>
            </a:pPr>
            <a:r>
              <a:rPr lang="en-US" sz="1400" dirty="0">
                <a:solidFill>
                  <a:srgbClr val="262626"/>
                </a:solidFill>
                <a:latin typeface="Calibri" pitchFamily="34" charset="0"/>
                <a:ea typeface="Calibri" pitchFamily="34" charset="-122"/>
                <a:cs typeface="Calibri" pitchFamily="34" charset="-120"/>
              </a:rPr>
              <a:t>An attack in which username and password pairs stolen from a breach of one service are replayed against a different service, exploiting the fact that many people reuse the same password across sites. Typically one attempt per account, across many accounts.</a:t>
            </a:r>
            <a:endParaRPr lang="en-US" sz="1400" dirty="0"/>
          </a:p>
        </p:txBody>
      </p:sp>
      <p:sp>
        <p:nvSpPr>
          <p:cNvPr id="8" name="Text 6"/>
          <p:cNvSpPr txBox="1"/>
          <p:nvPr/>
        </p:nvSpPr>
        <p:spPr>
          <a:xfrm>
            <a:off x="548640" y="2505456"/>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How it differs from brute force</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11091672" cy="914400"/>
        </p:xfrm>
        <a:graphic>
          <a:graphicData uri="http://schemas.openxmlformats.org/drawingml/2006/table">
            <a:tbl>
              <a:tblPr/>
              <a:tblGrid>
                <a:gridCol w="3108960"/>
                <a:gridCol w="3986784"/>
                <a:gridCol w="3995928"/>
              </a:tblGrid>
              <a:tr h="347472">
                <a:tc>
                  <a:txBody>
                    <a:bodyPr/>
                    <a:lstStyle/>
                    <a:p>
                      <a:pPr algn="l" indent="0" marL="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Brute Force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Credential Stuffing</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7472">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Usernames targeted</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One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262626"/>
                          </a:solidFill>
                          <a:latin typeface="Calibri" pitchFamily="34" charset="0"/>
                          <a:ea typeface="Calibri" pitchFamily="34" charset="-122"/>
                          <a:cs typeface="Calibri" pitchFamily="34" charset="-120"/>
                        </a:rPr>
                        <a:t>Many</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Passwords tried per account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b="1" dirty="0">
                          <a:solidFill>
                            <a:srgbClr val="262626"/>
                          </a:solidFill>
                          <a:latin typeface="Calibri" pitchFamily="34" charset="0"/>
                          <a:ea typeface="Calibri" pitchFamily="34" charset="-122"/>
                          <a:cs typeface="Calibri" pitchFamily="34" charset="-120"/>
                        </a:rPr>
                        <a:t>Many</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Usually one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47472">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Source of passwords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A guess list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A previous breach</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Behavioural signature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High failure rate on one account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b="1" dirty="0">
                          <a:solidFill>
                            <a:srgbClr val="262626"/>
                          </a:solidFill>
                          <a:latin typeface="Calibri" pitchFamily="34" charset="0"/>
                          <a:ea typeface="Calibri" pitchFamily="34" charset="-122"/>
                          <a:cs typeface="Calibri" pitchFamily="34" charset="-120"/>
                        </a:rPr>
                        <a:t>Many distinct usernames from one source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bl>
          </a:graphicData>
        </a:graphic>
      </p:graphicFrame>
      <p:sp>
        <p:nvSpPr>
          <p:cNvPr id="10" name="Text 7"/>
          <p:cNvSpPr txBox="1"/>
          <p:nvPr/>
        </p:nvSpPr>
        <p:spPr>
          <a:xfrm>
            <a:off x="548640" y="46360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Ethical constraint observed in this project</a:t>
            </a:r>
            <a:endParaRPr lang="en-US" sz="1600" dirty="0"/>
          </a:p>
        </p:txBody>
      </p:sp>
      <p:sp>
        <p:nvSpPr>
          <p:cNvPr id="11" name="Shape 8"/>
          <p:cNvSpPr/>
          <p:nvPr/>
        </p:nvSpPr>
        <p:spPr>
          <a:xfrm>
            <a:off x="548640" y="4965192"/>
            <a:ext cx="11091672" cy="566928"/>
          </a:xfrm>
          <a:prstGeom prst="rect">
            <a:avLst/>
          </a:prstGeom>
          <a:solidFill>
            <a:srgbClr val="F2F6FA"/>
          </a:solidFill>
          <a:ln w="9525">
            <a:solidFill>
              <a:srgbClr val="BFBFBF"/>
            </a:solidFill>
            <a:prstDash val="solid"/>
          </a:ln>
        </p:spPr>
      </p:sp>
      <p:sp>
        <p:nvSpPr>
          <p:cNvPr id="12" name="Text 9"/>
          <p:cNvSpPr txBox="1"/>
          <p:nvPr/>
        </p:nvSpPr>
        <p:spPr>
          <a:xfrm>
            <a:off x="685800" y="5047488"/>
            <a:ext cx="10817352" cy="411480"/>
          </a:xfrm>
          <a:prstGeom prst="rect">
            <a:avLst/>
          </a:prstGeom>
          <a:noFill/>
          <a:ln/>
        </p:spPr>
        <p:txBody>
          <a:bodyPr wrap="square" lIns="0" tIns="0" rIns="0" bIns="0" rtlCol="0" anchor="ctr"/>
          <a:lstStyle/>
          <a:p>
            <a:pPr indent="0" marL="0">
              <a:buNone/>
            </a:pPr>
            <a:r>
              <a:rPr lang="en-US" sz="1300" b="1" dirty="0">
                <a:solidFill>
                  <a:srgbClr val="262626"/>
                </a:solidFill>
                <a:latin typeface="Calibri" pitchFamily="34" charset="0"/>
                <a:ea typeface="Calibri" pitchFamily="34" charset="-122"/>
                <a:cs typeface="Calibri" pitchFamily="34" charset="-120"/>
              </a:rPr>
              <a:t>All credential pairs used in testing are synthetic, generated from a fixed random seed. No real breached credentials were obtained, stored or used at any point.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indent="0" marL="0">
              <a:buNone/>
            </a:pPr>
            <a:r>
              <a:rPr lang="en-US" sz="1400" b="1" spc="200" kern="0" dirty="0">
                <a:solidFill>
                  <a:srgbClr val="2E75B6"/>
                </a:solidFill>
                <a:latin typeface="Calibri" pitchFamily="34" charset="0"/>
                <a:ea typeface="Calibri" pitchFamily="34" charset="-122"/>
                <a:cs typeface="Calibri" pitchFamily="34" charset="-120"/>
              </a:rPr>
              <a:t>SECTION 3</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indent="0" marL="0">
              <a:buNone/>
            </a:pPr>
            <a:r>
              <a:rPr lang="en-US" sz="3800" b="1" dirty="0">
                <a:solidFill>
                  <a:srgbClr val="1F4E79"/>
                </a:solidFill>
                <a:latin typeface="Calibri" pitchFamily="34" charset="0"/>
                <a:ea typeface="Calibri" pitchFamily="34" charset="-122"/>
                <a:cs typeface="Calibri" pitchFamily="34" charset="-120"/>
              </a:rPr>
              <a:t>System Design</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indent="0" marL="0">
              <a:buNone/>
            </a:pPr>
            <a:r>
              <a:rPr lang="en-US" sz="1500" dirty="0">
                <a:solidFill>
                  <a:srgbClr val="595959"/>
                </a:solidFill>
                <a:latin typeface="Calibri" pitchFamily="34" charset="0"/>
                <a:ea typeface="Calibri" pitchFamily="34" charset="-122"/>
                <a:cs typeface="Calibri" pitchFamily="34" charset="-120"/>
              </a:rPr>
              <a:t>Architecture, detection pipeline, and how a decision is reached</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System Architecture</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Three independent services communicating over a private network</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822960" y="1874520"/>
            <a:ext cx="3200400" cy="1417320"/>
          </a:xfrm>
          <a:prstGeom prst="rect">
            <a:avLst/>
          </a:prstGeom>
          <a:solidFill>
            <a:srgbClr val="FFFFFF"/>
          </a:solidFill>
          <a:ln w="15875">
            <a:solidFill>
              <a:srgbClr val="1F4E79"/>
            </a:solidFill>
            <a:prstDash val="solid"/>
          </a:ln>
        </p:spPr>
      </p:sp>
      <p:sp>
        <p:nvSpPr>
          <p:cNvPr id="7" name="Text 5"/>
          <p:cNvSpPr txBox="1"/>
          <p:nvPr/>
        </p:nvSpPr>
        <p:spPr>
          <a:xfrm>
            <a:off x="822960" y="1984248"/>
            <a:ext cx="3200400" cy="292608"/>
          </a:xfrm>
          <a:prstGeom prst="rect">
            <a:avLst/>
          </a:prstGeom>
          <a:noFill/>
          <a:ln/>
        </p:spPr>
        <p:txBody>
          <a:bodyPr wrap="square" lIns="0" tIns="0" rIns="0" bIns="0" rtlCol="0" anchor="ctr"/>
          <a:lstStyle/>
          <a:p>
            <a:pPr algn="ctr" indent="0" marL="0">
              <a:buNone/>
            </a:pPr>
            <a:r>
              <a:rPr lang="en-US" sz="1600" b="1" dirty="0">
                <a:solidFill>
                  <a:srgbClr val="1F4E79"/>
                </a:solidFill>
                <a:latin typeface="Calibri" pitchFamily="34" charset="0"/>
                <a:ea typeface="Calibri" pitchFamily="34" charset="-122"/>
                <a:cs typeface="Calibri" pitchFamily="34" charset="-120"/>
              </a:rPr>
              <a:t>API Service</a:t>
            </a:r>
            <a:endParaRPr lang="en-US" sz="1600" dirty="0"/>
          </a:p>
        </p:txBody>
      </p:sp>
      <p:sp>
        <p:nvSpPr>
          <p:cNvPr id="8" name="Text 6"/>
          <p:cNvSpPr txBox="1"/>
          <p:nvPr/>
        </p:nvSpPr>
        <p:spPr>
          <a:xfrm>
            <a:off x="822960" y="2276856"/>
            <a:ext cx="3200400" cy="237744"/>
          </a:xfrm>
          <a:prstGeom prst="rect">
            <a:avLst/>
          </a:prstGeom>
          <a:noFill/>
          <a:ln/>
        </p:spPr>
        <p:txBody>
          <a:bodyPr wrap="square" lIns="0" tIns="0" rIns="0" bIns="0" rtlCol="0" anchor="ctr"/>
          <a:lstStyle/>
          <a:p>
            <a:pPr algn="ctr" indent="0" marL="0">
              <a:buNone/>
            </a:pPr>
            <a:r>
              <a:rPr lang="en-US" sz="1150" i="1" dirty="0">
                <a:solidFill>
                  <a:srgbClr val="595959"/>
                </a:solidFill>
                <a:latin typeface="Calibri" pitchFamily="34" charset="0"/>
                <a:ea typeface="Calibri" pitchFamily="34" charset="-122"/>
                <a:cs typeface="Calibri" pitchFamily="34" charset="-120"/>
              </a:rPr>
              <a:t>Node.js 22 + Express</a:t>
            </a:r>
            <a:endParaRPr lang="en-US" sz="1150" dirty="0"/>
          </a:p>
        </p:txBody>
      </p:sp>
      <p:sp>
        <p:nvSpPr>
          <p:cNvPr id="9" name="Text 7"/>
          <p:cNvSpPr txBox="1"/>
          <p:nvPr/>
        </p:nvSpPr>
        <p:spPr>
          <a:xfrm>
            <a:off x="932688" y="2551176"/>
            <a:ext cx="2980944" cy="658368"/>
          </a:xfrm>
          <a:prstGeom prst="rect">
            <a:avLst/>
          </a:prstGeom>
          <a:noFill/>
          <a:ln/>
        </p:spPr>
        <p:txBody>
          <a:bodyPr wrap="square" lIns="0" tIns="0" rIns="0" bIns="0" rtlCol="0" anchor="t"/>
          <a:lstStyle/>
          <a:p>
            <a:pPr algn="ctr" indent="0" marL="0">
              <a:buNone/>
            </a:pPr>
            <a:r>
              <a:rPr lang="en-US" sz="1100" dirty="0">
                <a:solidFill>
                  <a:srgbClr val="262626"/>
                </a:solidFill>
                <a:latin typeface="Calibri" pitchFamily="34" charset="0"/>
                <a:ea typeface="Calibri" pitchFamily="34" charset="-122"/>
                <a:cs typeface="Calibri" pitchFamily="34" charset="-120"/>
              </a:rPr>
              <a:t>The protected REST API.</a:t>
            </a:r>
            <a:endParaRPr lang="en-US" sz="1100" dirty="0"/>
          </a:p>
          <a:p>
            <a:pPr algn="ctr" indent="0" marL="0">
              <a:buNone/>
            </a:pPr>
            <a:r>
              <a:rPr lang="en-US" sz="1100" dirty="0">
                <a:solidFill>
                  <a:srgbClr val="262626"/>
                </a:solidFill>
                <a:latin typeface="Calibri" pitchFamily="34" charset="0"/>
                <a:ea typeface="Calibri" pitchFamily="34" charset="-122"/>
                <a:cs typeface="Calibri" pitchFamily="34" charset="-120"/>
              </a:rPr>
              <a:t>Detection middleware inspects</a:t>
            </a:r>
            <a:endParaRPr lang="en-US" sz="1100" dirty="0"/>
          </a:p>
          <a:p>
            <a:pPr algn="ctr" indent="0" marL="0">
              <a:buNone/>
            </a:pPr>
            <a:r>
              <a:rPr lang="en-US" sz="1100" dirty="0">
                <a:solidFill>
                  <a:srgbClr val="262626"/>
                </a:solidFill>
                <a:latin typeface="Calibri" pitchFamily="34" charset="0"/>
                <a:ea typeface="Calibri" pitchFamily="34" charset="-122"/>
                <a:cs typeface="Calibri" pitchFamily="34" charset="-120"/>
              </a:rPr>
              <a:t>every request before it reaches</a:t>
            </a:r>
            <a:endParaRPr lang="en-US" sz="1100" dirty="0"/>
          </a:p>
          <a:p>
            <a:pPr algn="ctr" indent="0" marL="0">
              <a:buNone/>
            </a:pPr>
            <a:r>
              <a:rPr lang="en-US" sz="1100" dirty="0">
                <a:solidFill>
                  <a:srgbClr val="262626"/>
                </a:solidFill>
                <a:latin typeface="Calibri" pitchFamily="34" charset="0"/>
                <a:ea typeface="Calibri" pitchFamily="34" charset="-122"/>
                <a:cs typeface="Calibri" pitchFamily="34" charset="-120"/>
              </a:rPr>
              <a:t>a route handler.</a:t>
            </a:r>
            <a:endParaRPr lang="en-US" sz="1100" dirty="0"/>
          </a:p>
        </p:txBody>
      </p:sp>
      <p:sp>
        <p:nvSpPr>
          <p:cNvPr id="10" name="Shape 8"/>
          <p:cNvSpPr/>
          <p:nvPr/>
        </p:nvSpPr>
        <p:spPr>
          <a:xfrm>
            <a:off x="4526280" y="1874520"/>
            <a:ext cx="3200400" cy="1417320"/>
          </a:xfrm>
          <a:prstGeom prst="rect">
            <a:avLst/>
          </a:prstGeom>
          <a:solidFill>
            <a:srgbClr val="FFFFFF"/>
          </a:solidFill>
          <a:ln w="15875">
            <a:solidFill>
              <a:srgbClr val="1F4E79"/>
            </a:solidFill>
            <a:prstDash val="solid"/>
          </a:ln>
        </p:spPr>
      </p:sp>
      <p:sp>
        <p:nvSpPr>
          <p:cNvPr id="11" name="Text 9"/>
          <p:cNvSpPr txBox="1"/>
          <p:nvPr/>
        </p:nvSpPr>
        <p:spPr>
          <a:xfrm>
            <a:off x="4526280" y="1984248"/>
            <a:ext cx="3200400" cy="292608"/>
          </a:xfrm>
          <a:prstGeom prst="rect">
            <a:avLst/>
          </a:prstGeom>
          <a:noFill/>
          <a:ln/>
        </p:spPr>
        <p:txBody>
          <a:bodyPr wrap="square" lIns="0" tIns="0" rIns="0" bIns="0" rtlCol="0" anchor="ctr"/>
          <a:lstStyle/>
          <a:p>
            <a:pPr algn="ctr" indent="0" marL="0">
              <a:buNone/>
            </a:pPr>
            <a:r>
              <a:rPr lang="en-US" sz="1600" b="1" dirty="0">
                <a:solidFill>
                  <a:srgbClr val="1F4E79"/>
                </a:solidFill>
                <a:latin typeface="Calibri" pitchFamily="34" charset="0"/>
                <a:ea typeface="Calibri" pitchFamily="34" charset="-122"/>
                <a:cs typeface="Calibri" pitchFamily="34" charset="-120"/>
              </a:rPr>
              <a:t>ML Service</a:t>
            </a:r>
            <a:endParaRPr lang="en-US" sz="1600" dirty="0"/>
          </a:p>
        </p:txBody>
      </p:sp>
      <p:sp>
        <p:nvSpPr>
          <p:cNvPr id="12" name="Text 10"/>
          <p:cNvSpPr txBox="1"/>
          <p:nvPr/>
        </p:nvSpPr>
        <p:spPr>
          <a:xfrm>
            <a:off x="4526280" y="2276856"/>
            <a:ext cx="3200400" cy="237744"/>
          </a:xfrm>
          <a:prstGeom prst="rect">
            <a:avLst/>
          </a:prstGeom>
          <a:noFill/>
          <a:ln/>
        </p:spPr>
        <p:txBody>
          <a:bodyPr wrap="square" lIns="0" tIns="0" rIns="0" bIns="0" rtlCol="0" anchor="ctr"/>
          <a:lstStyle/>
          <a:p>
            <a:pPr algn="ctr" indent="0" marL="0">
              <a:buNone/>
            </a:pPr>
            <a:r>
              <a:rPr lang="en-US" sz="1150" i="1" dirty="0">
                <a:solidFill>
                  <a:srgbClr val="595959"/>
                </a:solidFill>
                <a:latin typeface="Calibri" pitchFamily="34" charset="0"/>
                <a:ea typeface="Calibri" pitchFamily="34" charset="-122"/>
                <a:cs typeface="Calibri" pitchFamily="34" charset="-120"/>
              </a:rPr>
              <a:t>Python 3.13 + FastAPI</a:t>
            </a:r>
            <a:endParaRPr lang="en-US" sz="1150" dirty="0"/>
          </a:p>
        </p:txBody>
      </p:sp>
      <p:sp>
        <p:nvSpPr>
          <p:cNvPr id="13" name="Text 11"/>
          <p:cNvSpPr txBox="1"/>
          <p:nvPr/>
        </p:nvSpPr>
        <p:spPr>
          <a:xfrm>
            <a:off x="4636008" y="2551176"/>
            <a:ext cx="2980944" cy="658368"/>
          </a:xfrm>
          <a:prstGeom prst="rect">
            <a:avLst/>
          </a:prstGeom>
          <a:noFill/>
          <a:ln/>
        </p:spPr>
        <p:txBody>
          <a:bodyPr wrap="square" lIns="0" tIns="0" rIns="0" bIns="0" rtlCol="0" anchor="t"/>
          <a:lstStyle/>
          <a:p>
            <a:pPr algn="ctr" indent="0" marL="0">
              <a:buNone/>
            </a:pPr>
            <a:r>
              <a:rPr lang="en-US" sz="1100" dirty="0">
                <a:solidFill>
                  <a:srgbClr val="262626"/>
                </a:solidFill>
                <a:latin typeface="Calibri" pitchFamily="34" charset="0"/>
                <a:ea typeface="Calibri" pitchFamily="34" charset="-122"/>
                <a:cs typeface="Calibri" pitchFamily="34" charset="-120"/>
              </a:rPr>
              <a:t>Loads three trained models</a:t>
            </a:r>
            <a:endParaRPr lang="en-US" sz="1100" dirty="0"/>
          </a:p>
          <a:p>
            <a:pPr algn="ctr" indent="0" marL="0">
              <a:buNone/>
            </a:pPr>
            <a:r>
              <a:rPr lang="en-US" sz="1100" dirty="0">
                <a:solidFill>
                  <a:srgbClr val="262626"/>
                </a:solidFill>
                <a:latin typeface="Calibri" pitchFamily="34" charset="0"/>
                <a:ea typeface="Calibri" pitchFamily="34" charset="-122"/>
                <a:cs typeface="Calibri" pitchFamily="34" charset="-120"/>
              </a:rPr>
              <a:t>at startup and scores a</a:t>
            </a:r>
            <a:endParaRPr lang="en-US" sz="1100" dirty="0"/>
          </a:p>
          <a:p>
            <a:pPr algn="ctr" indent="0" marL="0">
              <a:buNone/>
            </a:pPr>
            <a:r>
              <a:rPr lang="en-US" sz="1100" dirty="0">
                <a:solidFill>
                  <a:srgbClr val="262626"/>
                </a:solidFill>
                <a:latin typeface="Calibri" pitchFamily="34" charset="0"/>
                <a:ea typeface="Calibri" pitchFamily="34" charset="-122"/>
                <a:cs typeface="Calibri" pitchFamily="34" charset="-120"/>
              </a:rPr>
              <a:t>17-feature vector on request.</a:t>
            </a:r>
            <a:endParaRPr lang="en-US" sz="1100" dirty="0"/>
          </a:p>
        </p:txBody>
      </p:sp>
      <p:sp>
        <p:nvSpPr>
          <p:cNvPr id="14" name="Shape 12"/>
          <p:cNvSpPr/>
          <p:nvPr/>
        </p:nvSpPr>
        <p:spPr>
          <a:xfrm>
            <a:off x="8229600" y="1874520"/>
            <a:ext cx="3200400" cy="1417320"/>
          </a:xfrm>
          <a:prstGeom prst="rect">
            <a:avLst/>
          </a:prstGeom>
          <a:solidFill>
            <a:srgbClr val="FFFFFF"/>
          </a:solidFill>
          <a:ln w="15875">
            <a:solidFill>
              <a:srgbClr val="1F4E79"/>
            </a:solidFill>
            <a:prstDash val="solid"/>
          </a:ln>
        </p:spPr>
      </p:sp>
      <p:sp>
        <p:nvSpPr>
          <p:cNvPr id="15" name="Text 13"/>
          <p:cNvSpPr txBox="1"/>
          <p:nvPr/>
        </p:nvSpPr>
        <p:spPr>
          <a:xfrm>
            <a:off x="8229600" y="1984248"/>
            <a:ext cx="3200400" cy="292608"/>
          </a:xfrm>
          <a:prstGeom prst="rect">
            <a:avLst/>
          </a:prstGeom>
          <a:noFill/>
          <a:ln/>
        </p:spPr>
        <p:txBody>
          <a:bodyPr wrap="square" lIns="0" tIns="0" rIns="0" bIns="0" rtlCol="0" anchor="ctr"/>
          <a:lstStyle/>
          <a:p>
            <a:pPr algn="ctr" indent="0" marL="0">
              <a:buNone/>
            </a:pPr>
            <a:r>
              <a:rPr lang="en-US" sz="1600" b="1" dirty="0">
                <a:solidFill>
                  <a:srgbClr val="1F4E79"/>
                </a:solidFill>
                <a:latin typeface="Calibri" pitchFamily="34" charset="0"/>
                <a:ea typeface="Calibri" pitchFamily="34" charset="-122"/>
                <a:cs typeface="Calibri" pitchFamily="34" charset="-120"/>
              </a:rPr>
              <a:t>Database</a:t>
            </a:r>
            <a:endParaRPr lang="en-US" sz="1600" dirty="0"/>
          </a:p>
        </p:txBody>
      </p:sp>
      <p:sp>
        <p:nvSpPr>
          <p:cNvPr id="16" name="Text 14"/>
          <p:cNvSpPr txBox="1"/>
          <p:nvPr/>
        </p:nvSpPr>
        <p:spPr>
          <a:xfrm>
            <a:off x="8229600" y="2276856"/>
            <a:ext cx="3200400" cy="237744"/>
          </a:xfrm>
          <a:prstGeom prst="rect">
            <a:avLst/>
          </a:prstGeom>
          <a:noFill/>
          <a:ln/>
        </p:spPr>
        <p:txBody>
          <a:bodyPr wrap="square" lIns="0" tIns="0" rIns="0" bIns="0" rtlCol="0" anchor="ctr"/>
          <a:lstStyle/>
          <a:p>
            <a:pPr algn="ctr" indent="0" marL="0">
              <a:buNone/>
            </a:pPr>
            <a:r>
              <a:rPr lang="en-US" sz="1150" i="1" dirty="0">
                <a:solidFill>
                  <a:srgbClr val="595959"/>
                </a:solidFill>
                <a:latin typeface="Calibri" pitchFamily="34" charset="0"/>
                <a:ea typeface="Calibri" pitchFamily="34" charset="-122"/>
                <a:cs typeface="Calibri" pitchFamily="34" charset="-120"/>
              </a:rPr>
              <a:t>PostgreSQL 15</a:t>
            </a:r>
            <a:endParaRPr lang="en-US" sz="1150" dirty="0"/>
          </a:p>
        </p:txBody>
      </p:sp>
      <p:sp>
        <p:nvSpPr>
          <p:cNvPr id="17" name="Text 15"/>
          <p:cNvSpPr txBox="1"/>
          <p:nvPr/>
        </p:nvSpPr>
        <p:spPr>
          <a:xfrm>
            <a:off x="8339328" y="2551176"/>
            <a:ext cx="2980944" cy="658368"/>
          </a:xfrm>
          <a:prstGeom prst="rect">
            <a:avLst/>
          </a:prstGeom>
          <a:noFill/>
          <a:ln/>
        </p:spPr>
        <p:txBody>
          <a:bodyPr wrap="square" lIns="0" tIns="0" rIns="0" bIns="0" rtlCol="0" anchor="t"/>
          <a:lstStyle/>
          <a:p>
            <a:pPr algn="ctr" indent="0" marL="0">
              <a:buNone/>
            </a:pPr>
            <a:r>
              <a:rPr lang="en-US" sz="1100" dirty="0">
                <a:solidFill>
                  <a:srgbClr val="262626"/>
                </a:solidFill>
                <a:latin typeface="Calibri" pitchFamily="34" charset="0"/>
                <a:ea typeface="Calibri" pitchFamily="34" charset="-122"/>
                <a:cs typeface="Calibri" pitchFamily="34" charset="-120"/>
              </a:rPr>
              <a:t>Stores every inspected request</a:t>
            </a:r>
            <a:endParaRPr lang="en-US" sz="1100" dirty="0"/>
          </a:p>
          <a:p>
            <a:pPr algn="ctr" indent="0" marL="0">
              <a:buNone/>
            </a:pPr>
            <a:r>
              <a:rPr lang="en-US" sz="1100" dirty="0">
                <a:solidFill>
                  <a:srgbClr val="262626"/>
                </a:solidFill>
                <a:latin typeface="Calibri" pitchFamily="34" charset="0"/>
                <a:ea typeface="Calibri" pitchFamily="34" charset="-122"/>
                <a:cs typeface="Calibri" pitchFamily="34" charset="-120"/>
              </a:rPr>
              <a:t>with its full feature vector</a:t>
            </a:r>
            <a:endParaRPr lang="en-US" sz="1100" dirty="0"/>
          </a:p>
          <a:p>
            <a:pPr algn="ctr" indent="0" marL="0">
              <a:buNone/>
            </a:pPr>
            <a:r>
              <a:rPr lang="en-US" sz="1100" dirty="0">
                <a:solidFill>
                  <a:srgbClr val="262626"/>
                </a:solidFill>
                <a:latin typeface="Calibri" pitchFamily="34" charset="0"/>
                <a:ea typeface="Calibri" pitchFamily="34" charset="-122"/>
                <a:cs typeface="Calibri" pitchFamily="34" charset="-120"/>
              </a:rPr>
              <a:t>and decision, for later audit.</a:t>
            </a:r>
            <a:endParaRPr lang="en-US" sz="1100" dirty="0"/>
          </a:p>
        </p:txBody>
      </p:sp>
      <p:sp>
        <p:nvSpPr>
          <p:cNvPr id="18" name="Shape 16"/>
          <p:cNvSpPr/>
          <p:nvPr/>
        </p:nvSpPr>
        <p:spPr>
          <a:xfrm>
            <a:off x="4023360" y="2583180"/>
            <a:ext cx="502920" cy="0"/>
          </a:xfrm>
          <a:prstGeom prst="line">
            <a:avLst/>
          </a:prstGeom>
          <a:noFill/>
          <a:ln w="19050">
            <a:solidFill>
              <a:srgbClr val="2E75B6"/>
            </a:solidFill>
            <a:prstDash val="solid"/>
            <a:tailEnd type="triangle"/>
          </a:ln>
        </p:spPr>
      </p:sp>
      <p:sp>
        <p:nvSpPr>
          <p:cNvPr id="19" name="Shape 17"/>
          <p:cNvSpPr/>
          <p:nvPr/>
        </p:nvSpPr>
        <p:spPr>
          <a:xfrm>
            <a:off x="7726680" y="2583180"/>
            <a:ext cx="502920" cy="0"/>
          </a:xfrm>
          <a:prstGeom prst="line">
            <a:avLst/>
          </a:prstGeom>
          <a:noFill/>
          <a:ln w="19050">
            <a:solidFill>
              <a:srgbClr val="2E75B6"/>
            </a:solidFill>
            <a:prstDash val="solid"/>
            <a:tailEnd type="triangle"/>
          </a:ln>
        </p:spPr>
      </p:sp>
      <p:sp>
        <p:nvSpPr>
          <p:cNvPr id="20" name="Text 18"/>
          <p:cNvSpPr txBox="1"/>
          <p:nvPr/>
        </p:nvSpPr>
        <p:spPr>
          <a:xfrm>
            <a:off x="548640" y="3657600"/>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Design decisions worth noting</a:t>
            </a:r>
            <a:endParaRPr lang="en-US" sz="1600" dirty="0"/>
          </a:p>
        </p:txBody>
      </p:sp>
      <p:sp>
        <p:nvSpPr>
          <p:cNvPr id="21" name="Text 19"/>
          <p:cNvSpPr txBox="1"/>
          <p:nvPr/>
        </p:nvSpPr>
        <p:spPr>
          <a:xfrm>
            <a:off x="548640" y="4005072"/>
            <a:ext cx="11091672" cy="2194560"/>
          </a:xfrm>
          <a:prstGeom prst="rect">
            <a:avLst/>
          </a:prstGeom>
          <a:noFill/>
          <a:ln/>
        </p:spPr>
        <p:txBody>
          <a:bodyPr wrap="square" rtlCol="0" anchor="t"/>
          <a:lstStyle/>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Detection runs as middleware ahead of all routes, so coverage is structural - a newly added endpoint is protected by default rather than by remembering to protect it.</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The ML service is a separate process. If it becomes unavailable the API continues serving on the rule verdict alone (fail-open), so detection degrades but availability does not.</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Trained models are mounted at runtime rather than built into the image, keeping the deployable artefact independent of the training data.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The Detection Pipeline</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How one request becomes an allow-or-block decision</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545336"/>
            <a:ext cx="384048" cy="384048"/>
          </a:xfrm>
          <a:prstGeom prst="ellipse">
            <a:avLst/>
          </a:prstGeom>
          <a:solidFill>
            <a:srgbClr val="1F4E79"/>
          </a:solidFill>
          <a:ln w="12700">
            <a:solidFill>
              <a:srgbClr val="1F4E79"/>
            </a:solidFill>
            <a:prstDash val="solid"/>
          </a:ln>
        </p:spPr>
      </p:sp>
      <p:sp>
        <p:nvSpPr>
          <p:cNvPr id="7" name="Text 5"/>
          <p:cNvSpPr txBox="1"/>
          <p:nvPr/>
        </p:nvSpPr>
        <p:spPr>
          <a:xfrm>
            <a:off x="548640" y="1545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78992" y="1527048"/>
            <a:ext cx="2468880" cy="420624"/>
          </a:xfrm>
          <a:prstGeom prst="rect">
            <a:avLst/>
          </a:prstGeom>
          <a:noFill/>
          <a:ln/>
        </p:spPr>
        <p:txBody>
          <a:bodyPr wrap="square" lIns="0" tIns="0" rIns="0" bIns="0" rtlCol="0" anchor="ctr"/>
          <a:lstStyle/>
          <a:p>
            <a:pPr indent="0" marL="0">
              <a:buNone/>
            </a:pPr>
            <a:r>
              <a:rPr lang="en-US" sz="1450" b="1" dirty="0">
                <a:solidFill>
                  <a:srgbClr val="262626"/>
                </a:solidFill>
                <a:latin typeface="Calibri" pitchFamily="34" charset="0"/>
                <a:ea typeface="Calibri" pitchFamily="34" charset="-122"/>
                <a:cs typeface="Calibri" pitchFamily="34" charset="-120"/>
              </a:rPr>
              <a:t>Extract features</a:t>
            </a:r>
            <a:endParaRPr lang="en-US" sz="1450" dirty="0"/>
          </a:p>
        </p:txBody>
      </p:sp>
      <p:sp>
        <p:nvSpPr>
          <p:cNvPr id="9" name="Text 7"/>
          <p:cNvSpPr txBox="1"/>
          <p:nvPr/>
        </p:nvSpPr>
        <p:spPr>
          <a:xfrm>
            <a:off x="3611880" y="1527048"/>
            <a:ext cx="8028432" cy="420624"/>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The request is converted into 17 numeric features: 12 describing the payload text, 5 describing recent behaviour from that source.</a:t>
            </a:r>
            <a:endParaRPr lang="en-US" sz="1250" dirty="0"/>
          </a:p>
        </p:txBody>
      </p:sp>
      <p:sp>
        <p:nvSpPr>
          <p:cNvPr id="10" name="Shape 8"/>
          <p:cNvSpPr/>
          <p:nvPr/>
        </p:nvSpPr>
        <p:spPr>
          <a:xfrm>
            <a:off x="548640" y="2130552"/>
            <a:ext cx="384048" cy="384048"/>
          </a:xfrm>
          <a:prstGeom prst="ellipse">
            <a:avLst/>
          </a:prstGeom>
          <a:solidFill>
            <a:srgbClr val="1F4E79"/>
          </a:solidFill>
          <a:ln w="12700">
            <a:solidFill>
              <a:srgbClr val="1F4E79"/>
            </a:solidFill>
            <a:prstDash val="solid"/>
          </a:ln>
        </p:spPr>
      </p:sp>
      <p:sp>
        <p:nvSpPr>
          <p:cNvPr id="11" name="Text 9"/>
          <p:cNvSpPr txBox="1"/>
          <p:nvPr/>
        </p:nvSpPr>
        <p:spPr>
          <a:xfrm>
            <a:off x="548640" y="2130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78992" y="2112264"/>
            <a:ext cx="2468880" cy="420624"/>
          </a:xfrm>
          <a:prstGeom prst="rect">
            <a:avLst/>
          </a:prstGeom>
          <a:noFill/>
          <a:ln/>
        </p:spPr>
        <p:txBody>
          <a:bodyPr wrap="square" lIns="0" tIns="0" rIns="0" bIns="0" rtlCol="0" anchor="ctr"/>
          <a:lstStyle/>
          <a:p>
            <a:pPr indent="0" marL="0">
              <a:buNone/>
            </a:pPr>
            <a:r>
              <a:rPr lang="en-US" sz="1450" b="1" dirty="0">
                <a:solidFill>
                  <a:srgbClr val="262626"/>
                </a:solidFill>
                <a:latin typeface="Calibri" pitchFamily="34" charset="0"/>
                <a:ea typeface="Calibri" pitchFamily="34" charset="-122"/>
                <a:cs typeface="Calibri" pitchFamily="34" charset="-120"/>
              </a:rPr>
              <a:t>Evaluate rules</a:t>
            </a:r>
            <a:endParaRPr lang="en-US" sz="1450" dirty="0"/>
          </a:p>
        </p:txBody>
      </p:sp>
      <p:sp>
        <p:nvSpPr>
          <p:cNvPr id="13" name="Text 11"/>
          <p:cNvSpPr txBox="1"/>
          <p:nvPr/>
        </p:nvSpPr>
        <p:spPr>
          <a:xfrm>
            <a:off x="3611880" y="2112264"/>
            <a:ext cx="8028432" cy="420624"/>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15 hand-written signatures are checked. Each contributes a weighted score. Result: a rule score between 0.00 and 1.00.</a:t>
            </a:r>
            <a:endParaRPr lang="en-US" sz="1250" dirty="0"/>
          </a:p>
        </p:txBody>
      </p:sp>
      <p:sp>
        <p:nvSpPr>
          <p:cNvPr id="14" name="Shape 12"/>
          <p:cNvSpPr/>
          <p:nvPr/>
        </p:nvSpPr>
        <p:spPr>
          <a:xfrm>
            <a:off x="548640" y="2715768"/>
            <a:ext cx="384048" cy="384048"/>
          </a:xfrm>
          <a:prstGeom prst="ellipse">
            <a:avLst/>
          </a:prstGeom>
          <a:solidFill>
            <a:srgbClr val="1F4E79"/>
          </a:solidFill>
          <a:ln w="12700">
            <a:solidFill>
              <a:srgbClr val="1F4E79"/>
            </a:solidFill>
            <a:prstDash val="solid"/>
          </a:ln>
        </p:spPr>
      </p:sp>
      <p:sp>
        <p:nvSpPr>
          <p:cNvPr id="15" name="Text 13"/>
          <p:cNvSpPr txBox="1"/>
          <p:nvPr/>
        </p:nvSpPr>
        <p:spPr>
          <a:xfrm>
            <a:off x="54864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78992" y="2697480"/>
            <a:ext cx="2468880" cy="420624"/>
          </a:xfrm>
          <a:prstGeom prst="rect">
            <a:avLst/>
          </a:prstGeom>
          <a:noFill/>
          <a:ln/>
        </p:spPr>
        <p:txBody>
          <a:bodyPr wrap="square" lIns="0" tIns="0" rIns="0" bIns="0" rtlCol="0" anchor="ctr"/>
          <a:lstStyle/>
          <a:p>
            <a:pPr indent="0" marL="0">
              <a:buNone/>
            </a:pPr>
            <a:r>
              <a:rPr lang="en-US" sz="1450" b="1" dirty="0">
                <a:solidFill>
                  <a:srgbClr val="262626"/>
                </a:solidFill>
                <a:latin typeface="Calibri" pitchFamily="34" charset="0"/>
                <a:ea typeface="Calibri" pitchFamily="34" charset="-122"/>
                <a:cs typeface="Calibri" pitchFamily="34" charset="-120"/>
              </a:rPr>
              <a:t>Short-circuit check</a:t>
            </a:r>
            <a:endParaRPr lang="en-US" sz="1450" dirty="0"/>
          </a:p>
        </p:txBody>
      </p:sp>
      <p:sp>
        <p:nvSpPr>
          <p:cNvPr id="17" name="Text 15"/>
          <p:cNvSpPr txBox="1"/>
          <p:nvPr/>
        </p:nvSpPr>
        <p:spPr>
          <a:xfrm>
            <a:off x="3611880" y="2697480"/>
            <a:ext cx="8028432" cy="420624"/>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If a high-severity rule has already fired, the verdict is certain. The request is blocked without calling the ML service.</a:t>
            </a:r>
            <a:endParaRPr lang="en-US" sz="1250" dirty="0"/>
          </a:p>
        </p:txBody>
      </p:sp>
      <p:sp>
        <p:nvSpPr>
          <p:cNvPr id="18" name="Shape 16"/>
          <p:cNvSpPr/>
          <p:nvPr/>
        </p:nvSpPr>
        <p:spPr>
          <a:xfrm>
            <a:off x="548640" y="3300984"/>
            <a:ext cx="384048" cy="384048"/>
          </a:xfrm>
          <a:prstGeom prst="ellipse">
            <a:avLst/>
          </a:prstGeom>
          <a:solidFill>
            <a:srgbClr val="1F4E79"/>
          </a:solidFill>
          <a:ln w="12700">
            <a:solidFill>
              <a:srgbClr val="1F4E79"/>
            </a:solidFill>
            <a:prstDash val="solid"/>
          </a:ln>
        </p:spPr>
      </p:sp>
      <p:sp>
        <p:nvSpPr>
          <p:cNvPr id="19" name="Text 17"/>
          <p:cNvSpPr txBox="1"/>
          <p:nvPr/>
        </p:nvSpPr>
        <p:spPr>
          <a:xfrm>
            <a:off x="548640" y="3300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078992" y="3282696"/>
            <a:ext cx="2468880" cy="420624"/>
          </a:xfrm>
          <a:prstGeom prst="rect">
            <a:avLst/>
          </a:prstGeom>
          <a:noFill/>
          <a:ln/>
        </p:spPr>
        <p:txBody>
          <a:bodyPr wrap="square" lIns="0" tIns="0" rIns="0" bIns="0" rtlCol="0" anchor="ctr"/>
          <a:lstStyle/>
          <a:p>
            <a:pPr indent="0" marL="0">
              <a:buNone/>
            </a:pPr>
            <a:r>
              <a:rPr lang="en-US" sz="1450" b="1" dirty="0">
                <a:solidFill>
                  <a:srgbClr val="262626"/>
                </a:solidFill>
                <a:latin typeface="Calibri" pitchFamily="34" charset="0"/>
                <a:ea typeface="Calibri" pitchFamily="34" charset="-122"/>
                <a:cs typeface="Calibri" pitchFamily="34" charset="-120"/>
              </a:rPr>
              <a:t>Score with ML</a:t>
            </a:r>
            <a:endParaRPr lang="en-US" sz="1450" dirty="0"/>
          </a:p>
        </p:txBody>
      </p:sp>
      <p:sp>
        <p:nvSpPr>
          <p:cNvPr id="21" name="Text 19"/>
          <p:cNvSpPr txBox="1"/>
          <p:nvPr/>
        </p:nvSpPr>
        <p:spPr>
          <a:xfrm>
            <a:off x="3611880" y="3282696"/>
            <a:ext cx="8028432" cy="420624"/>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Otherwise the same 17 features are sent to the ML service, which returns a combined score from three models.</a:t>
            </a:r>
            <a:endParaRPr lang="en-US" sz="1250" dirty="0"/>
          </a:p>
        </p:txBody>
      </p:sp>
      <p:sp>
        <p:nvSpPr>
          <p:cNvPr id="22" name="Shape 20"/>
          <p:cNvSpPr/>
          <p:nvPr/>
        </p:nvSpPr>
        <p:spPr>
          <a:xfrm>
            <a:off x="548640" y="3886200"/>
            <a:ext cx="384048" cy="384048"/>
          </a:xfrm>
          <a:prstGeom prst="ellipse">
            <a:avLst/>
          </a:prstGeom>
          <a:solidFill>
            <a:srgbClr val="1F4E79"/>
          </a:solidFill>
          <a:ln w="12700">
            <a:solidFill>
              <a:srgbClr val="1F4E79"/>
            </a:solidFill>
            <a:prstDash val="solid"/>
          </a:ln>
        </p:spPr>
      </p:sp>
      <p:sp>
        <p:nvSpPr>
          <p:cNvPr id="23" name="Text 21"/>
          <p:cNvSpPr txBox="1"/>
          <p:nvPr/>
        </p:nvSpPr>
        <p:spPr>
          <a:xfrm>
            <a:off x="54864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078992" y="3867912"/>
            <a:ext cx="2468880" cy="420624"/>
          </a:xfrm>
          <a:prstGeom prst="rect">
            <a:avLst/>
          </a:prstGeom>
          <a:noFill/>
          <a:ln/>
        </p:spPr>
        <p:txBody>
          <a:bodyPr wrap="square" lIns="0" tIns="0" rIns="0" bIns="0" rtlCol="0" anchor="ctr"/>
          <a:lstStyle/>
          <a:p>
            <a:pPr indent="0" marL="0">
              <a:buNone/>
            </a:pPr>
            <a:r>
              <a:rPr lang="en-US" sz="1450" b="1" dirty="0">
                <a:solidFill>
                  <a:srgbClr val="262626"/>
                </a:solidFill>
                <a:latin typeface="Calibri" pitchFamily="34" charset="0"/>
                <a:ea typeface="Calibri" pitchFamily="34" charset="-122"/>
                <a:cs typeface="Calibri" pitchFamily="34" charset="-120"/>
              </a:rPr>
              <a:t>Combine and decide</a:t>
            </a:r>
            <a:endParaRPr lang="en-US" sz="1450" dirty="0"/>
          </a:p>
        </p:txBody>
      </p:sp>
      <p:sp>
        <p:nvSpPr>
          <p:cNvPr id="25" name="Text 23"/>
          <p:cNvSpPr txBox="1"/>
          <p:nvPr/>
        </p:nvSpPr>
        <p:spPr>
          <a:xfrm>
            <a:off x="3611880" y="3867912"/>
            <a:ext cx="8028432" cy="420624"/>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Rule and ML scores are merged. If the combined score reaches the threshold of 0.70, the request is blocked with HTTP 403.</a:t>
            </a:r>
            <a:endParaRPr lang="en-US" sz="1250" dirty="0"/>
          </a:p>
        </p:txBody>
      </p:sp>
      <p:sp>
        <p:nvSpPr>
          <p:cNvPr id="26" name="Shape 24"/>
          <p:cNvSpPr/>
          <p:nvPr/>
        </p:nvSpPr>
        <p:spPr>
          <a:xfrm>
            <a:off x="548640" y="4562856"/>
            <a:ext cx="11091672" cy="548640"/>
          </a:xfrm>
          <a:prstGeom prst="rect">
            <a:avLst/>
          </a:prstGeom>
          <a:solidFill>
            <a:srgbClr val="F2F6FA"/>
          </a:solidFill>
          <a:ln w="9525">
            <a:solidFill>
              <a:srgbClr val="BFBFBF"/>
            </a:solidFill>
            <a:prstDash val="solid"/>
          </a:ln>
        </p:spPr>
      </p:sp>
      <p:sp>
        <p:nvSpPr>
          <p:cNvPr id="27" name="Text 25"/>
          <p:cNvSpPr txBox="1"/>
          <p:nvPr/>
        </p:nvSpPr>
        <p:spPr>
          <a:xfrm>
            <a:off x="685800" y="4645152"/>
            <a:ext cx="10817352" cy="402336"/>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Fail-open policy: if the ML service is unreachable or times out (250 ms), the request is judged on the rule verdict alone and the outage is logged. Detection degrades; the API stays available.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The Feature Contract</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Machine learning cannot read text - every request becomes 17 numbers</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13</a:t>
            </a:r>
            <a:endParaRPr lang="en-US" sz="900" dirty="0"/>
          </a:p>
        </p:txBody>
      </p:sp>
      <p:sp>
        <p:nvSpPr>
          <p:cNvPr id="6" name="Text 4"/>
          <p:cNvSpPr txBox="1"/>
          <p:nvPr/>
        </p:nvSpPr>
        <p:spPr>
          <a:xfrm>
            <a:off x="548640" y="120700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12 payload features (the text of the request)</a:t>
            </a:r>
            <a:endParaRPr lang="en-US" sz="1600" dirty="0"/>
          </a:p>
        </p:txBody>
      </p:sp>
      <p:sp>
        <p:nvSpPr>
          <p:cNvPr id="7" name="Text 5"/>
          <p:cNvSpPr txBox="1"/>
          <p:nvPr/>
        </p:nvSpPr>
        <p:spPr>
          <a:xfrm>
            <a:off x="548640" y="1554480"/>
            <a:ext cx="5349240" cy="1737360"/>
          </a:xfrm>
          <a:prstGeom prst="rect">
            <a:avLst/>
          </a:prstGeom>
          <a:noFill/>
          <a:ln/>
        </p:spPr>
        <p:txBody>
          <a:bodyPr wrap="square" rtlCol="0" anchor="t"/>
          <a:lstStyle/>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payload_length, sql_keyword_count</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single_quote_count, double_dash_count</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semicolon_count, paren_count, equals_count</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special_char_ratio, shannon_entropy</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has_union_select, has_or_equals, has_comment</a:t>
            </a:r>
            <a:endParaRPr lang="en-US" sz="1250" dirty="0"/>
          </a:p>
        </p:txBody>
      </p:sp>
      <p:sp>
        <p:nvSpPr>
          <p:cNvPr id="8" name="Text 6"/>
          <p:cNvSpPr txBox="1"/>
          <p:nvPr/>
        </p:nvSpPr>
        <p:spPr>
          <a:xfrm>
            <a:off x="6291072" y="120700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5 behavioural features (recent activity)</a:t>
            </a:r>
            <a:endParaRPr lang="en-US" sz="1600" dirty="0"/>
          </a:p>
        </p:txBody>
      </p:sp>
      <p:sp>
        <p:nvSpPr>
          <p:cNvPr id="9" name="Text 7"/>
          <p:cNvSpPr txBox="1"/>
          <p:nvPr/>
        </p:nvSpPr>
        <p:spPr>
          <a:xfrm>
            <a:off x="6291072" y="1554480"/>
            <a:ext cx="5349240" cy="1737360"/>
          </a:xfrm>
          <a:prstGeom prst="rect">
            <a:avLst/>
          </a:prstGeom>
          <a:noFill/>
          <a:ln/>
        </p:spPr>
        <p:txBody>
          <a:bodyPr wrap="square" rtlCol="0" anchor="t"/>
          <a:lstStyle/>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requests_per_min_ip</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login_failure_ratio</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inter_arrival_time_variance</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distinct_usernames_tried</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unique_ip_count_window</a:t>
            </a:r>
            <a:endParaRPr lang="en-US" sz="1250" dirty="0"/>
          </a:p>
        </p:txBody>
      </p:sp>
      <p:sp>
        <p:nvSpPr>
          <p:cNvPr id="10" name="Text 8"/>
          <p:cNvSpPr txBox="1"/>
          <p:nvPr/>
        </p:nvSpPr>
        <p:spPr>
          <a:xfrm>
            <a:off x="548640" y="335584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Worked example: what the model actually sees</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685032"/>
          <a:ext cx="11091672" cy="914400"/>
        </p:xfrm>
        <a:graphic>
          <a:graphicData uri="http://schemas.openxmlformats.org/drawingml/2006/table">
            <a:tbl>
              <a:tblPr/>
              <a:tblGrid>
                <a:gridCol w="3657600"/>
                <a:gridCol w="3712464"/>
                <a:gridCol w="3721608"/>
              </a:tblGrid>
              <a:tr h="30175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Benign:  laptop</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Attack:  ' OR '1'='1' UNION SELECT ... --</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01752">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payload_length</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2626"/>
                          </a:solidFill>
                          <a:latin typeface="Calibri" pitchFamily="34" charset="0"/>
                          <a:ea typeface="Calibri" pitchFamily="34" charset="-122"/>
                          <a:cs typeface="Calibri" pitchFamily="34" charset="-120"/>
                        </a:rPr>
                        <a:t>58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sql_keyword_count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b="1" dirty="0">
                          <a:solidFill>
                            <a:srgbClr val="262626"/>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01752">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single_quote_count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2626"/>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special_char_ratio</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b="1" dirty="0">
                          <a:solidFill>
                            <a:srgbClr val="262626"/>
                          </a:solidFill>
                          <a:latin typeface="Calibri" pitchFamily="34" charset="0"/>
                          <a:ea typeface="Calibri" pitchFamily="34" charset="-122"/>
                          <a:cs typeface="Calibri" pitchFamily="34" charset="-120"/>
                        </a:rPr>
                        <a:t>0.138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01752">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shannon_entropy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2.25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2626"/>
                          </a:solidFill>
                          <a:latin typeface="Calibri" pitchFamily="34" charset="0"/>
                          <a:ea typeface="Calibri" pitchFamily="34" charset="-122"/>
                          <a:cs typeface="Calibri" pitchFamily="34" charset="-120"/>
                        </a:rPr>
                        <a:t>4.48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has_union_select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b="1" dirty="0">
                          <a:solidFill>
                            <a:srgbClr val="262626"/>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The Two Detection Stages</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14</a:t>
            </a:r>
            <a:endParaRPr lang="en-US" sz="900" dirty="0"/>
          </a:p>
        </p:txBody>
      </p:sp>
      <p:sp>
        <p:nvSpPr>
          <p:cNvPr id="5" name="Text 3"/>
          <p:cNvSpPr txBox="1"/>
          <p:nvPr/>
        </p:nvSpPr>
        <p:spPr>
          <a:xfrm>
            <a:off x="548640" y="120700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Stage 1: Rule Engine</a:t>
            </a:r>
            <a:endParaRPr lang="en-US" sz="1600" dirty="0"/>
          </a:p>
        </p:txBody>
      </p:sp>
      <p:sp>
        <p:nvSpPr>
          <p:cNvPr id="6" name="Text 4"/>
          <p:cNvSpPr txBox="1"/>
          <p:nvPr/>
        </p:nvSpPr>
        <p:spPr>
          <a:xfrm>
            <a:off x="548640" y="1517904"/>
            <a:ext cx="5349240" cy="237744"/>
          </a:xfrm>
          <a:prstGeom prst="rect">
            <a:avLst/>
          </a:prstGeom>
          <a:noFill/>
          <a:ln/>
        </p:spPr>
        <p:txBody>
          <a:bodyPr wrap="square" lIns="0" tIns="0" rIns="0" bIns="0" rtlCol="0" anchor="ctr"/>
          <a:lstStyle/>
          <a:p>
            <a:pPr indent="0" marL="0">
              <a:buNone/>
            </a:pPr>
            <a:r>
              <a:rPr lang="en-US" sz="1200" i="1" dirty="0">
                <a:solidFill>
                  <a:srgbClr val="595959"/>
                </a:solidFill>
                <a:latin typeface="Calibri" pitchFamily="34" charset="0"/>
                <a:ea typeface="Calibri" pitchFamily="34" charset="-122"/>
                <a:cs typeface="Calibri" pitchFamily="34" charset="-120"/>
              </a:rPr>
              <a:t>15 signatures, evaluated in the API process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5349240" cy="914400"/>
        </p:xfrm>
        <a:graphic>
          <a:graphicData uri="http://schemas.openxmlformats.org/drawingml/2006/table">
            <a:tbl>
              <a:tblPr/>
              <a:tblGrid>
                <a:gridCol w="3794760"/>
                <a:gridCol w="1554480"/>
              </a:tblGrid>
              <a:tr h="29260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92608">
                <a:tc>
                  <a:txBody>
                    <a:bodyPr/>
                    <a:lstStyle/>
                    <a:p>
                      <a:pPr algn="l" indent="0" marL="0">
                        <a:buNone/>
                      </a:pPr>
                      <a:r>
                        <a:rPr lang="en-US" sz="1100" dirty="0">
                          <a:solidFill>
                            <a:srgbClr val="262626"/>
                          </a:solidFill>
                          <a:latin typeface="Consolas" pitchFamily="34" charset="0"/>
                          <a:ea typeface="Consolas" pitchFamily="34" charset="-122"/>
                          <a:cs typeface="Consolas" pitchFamily="34" charset="-120"/>
                        </a:rPr>
                        <a:t>SQLI_UNION_SELECT</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262626"/>
                          </a:solidFill>
                          <a:latin typeface="Consolas" pitchFamily="34" charset="0"/>
                          <a:ea typeface="Consolas" pitchFamily="34" charset="-122"/>
                          <a:cs typeface="Consolas" pitchFamily="34" charset="-120"/>
                        </a:rPr>
                        <a:t>SQLI_TAUTOLOGY_CONFIRMED</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292608">
                <a:tc>
                  <a:txBody>
                    <a:bodyPr/>
                    <a:lstStyle/>
                    <a:p>
                      <a:pPr algn="l" indent="0" marL="0">
                        <a:buNone/>
                      </a:pPr>
                      <a:r>
                        <a:rPr lang="en-US" sz="1100" dirty="0">
                          <a:solidFill>
                            <a:srgbClr val="262626"/>
                          </a:solidFill>
                          <a:latin typeface="Consolas" pitchFamily="34" charset="0"/>
                          <a:ea typeface="Consolas" pitchFamily="34" charset="-122"/>
                          <a:cs typeface="Consolas" pitchFamily="34" charset="-120"/>
                        </a:rPr>
                        <a:t>SQLI_OBFUSCATED_TAUTOLOGY</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6262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262626"/>
                          </a:solidFill>
                          <a:latin typeface="Consolas" pitchFamily="34" charset="0"/>
                          <a:ea typeface="Consolas" pitchFamily="34" charset="-122"/>
                          <a:cs typeface="Consolas" pitchFamily="34" charset="-120"/>
                        </a:rPr>
                        <a:t>RATE_EXCESSIVE</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292608">
                <a:tc>
                  <a:txBody>
                    <a:bodyPr/>
                    <a:lstStyle/>
                    <a:p>
                      <a:pPr algn="l" indent="0" marL="0">
                        <a:buNone/>
                      </a:pPr>
                      <a:r>
                        <a:rPr lang="en-US" sz="1100" dirty="0">
                          <a:solidFill>
                            <a:srgbClr val="262626"/>
                          </a:solidFill>
                          <a:latin typeface="Consolas" pitchFamily="34" charset="0"/>
                          <a:ea typeface="Consolas" pitchFamily="34" charset="-122"/>
                          <a:cs typeface="Consolas" pitchFamily="34" charset="-120"/>
                        </a:rPr>
                        <a:t>AUTH_FAILURE_RATIO</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262626"/>
                          </a:solidFill>
                          <a:latin typeface="Consolas" pitchFamily="34" charset="0"/>
                          <a:ea typeface="Consolas" pitchFamily="34" charset="-122"/>
                          <a:cs typeface="Consolas" pitchFamily="34" charset="-120"/>
                        </a:rPr>
                        <a:t>CREDENTIAL_STUFFING</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bl>
          </a:graphicData>
        </a:graphic>
      </p:graphicFrame>
      <p:sp>
        <p:nvSpPr>
          <p:cNvPr id="8" name="Text 5"/>
          <p:cNvSpPr txBox="1"/>
          <p:nvPr/>
        </p:nvSpPr>
        <p:spPr>
          <a:xfrm>
            <a:off x="548640" y="3995928"/>
            <a:ext cx="5349240" cy="731520"/>
          </a:xfrm>
          <a:prstGeom prst="rect">
            <a:avLst/>
          </a:prstGeom>
          <a:noFill/>
          <a:ln/>
        </p:spPr>
        <p:txBody>
          <a:bodyPr wrap="square" rtlCol="0" anchor="t"/>
          <a:lstStyle/>
          <a:p>
            <a:pPr marL="342900" indent="-342900">
              <a:spcAft>
                <a:spcPts val="400"/>
              </a:spcAft>
              <a:buSzPct val="100000"/>
              <a:buChar char="•"/>
            </a:pPr>
            <a:r>
              <a:rPr lang="en-US" sz="1250" dirty="0">
                <a:solidFill>
                  <a:srgbClr val="375623"/>
                </a:solidFill>
                <a:latin typeface="Calibri" pitchFamily="34" charset="0"/>
                <a:ea typeface="Calibri" pitchFamily="34" charset="-122"/>
                <a:cs typeface="Calibri" pitchFamily="34" charset="-120"/>
              </a:rPr>
              <a:t>Strength: instant, exact, fully explainable</a:t>
            </a:r>
            <a:endParaRPr lang="en-US" sz="1250" dirty="0"/>
          </a:p>
          <a:p>
            <a:pPr marL="342900" indent="-342900">
              <a:spcAft>
                <a:spcPts val="400"/>
              </a:spcAft>
              <a:buSzPct val="100000"/>
              <a:buChar char="•"/>
            </a:pPr>
            <a:r>
              <a:rPr lang="en-US" sz="1250" dirty="0">
                <a:solidFill>
                  <a:srgbClr val="C00000"/>
                </a:solidFill>
                <a:latin typeface="Calibri" pitchFamily="34" charset="0"/>
                <a:ea typeface="Calibri" pitchFamily="34" charset="-122"/>
                <a:cs typeface="Calibri" pitchFamily="34" charset="-120"/>
              </a:rPr>
              <a:t>Weakness: blind to anything not written down</a:t>
            </a:r>
            <a:endParaRPr lang="en-US" sz="1250" dirty="0"/>
          </a:p>
        </p:txBody>
      </p:sp>
      <p:sp>
        <p:nvSpPr>
          <p:cNvPr id="9" name="Text 6"/>
          <p:cNvSpPr txBox="1"/>
          <p:nvPr/>
        </p:nvSpPr>
        <p:spPr>
          <a:xfrm>
            <a:off x="6291072" y="120700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Stage 2: Machine Learning</a:t>
            </a:r>
            <a:endParaRPr lang="en-US" sz="1600" dirty="0"/>
          </a:p>
        </p:txBody>
      </p:sp>
      <p:sp>
        <p:nvSpPr>
          <p:cNvPr id="10" name="Text 7"/>
          <p:cNvSpPr txBox="1"/>
          <p:nvPr/>
        </p:nvSpPr>
        <p:spPr>
          <a:xfrm>
            <a:off x="6291072" y="1517904"/>
            <a:ext cx="5349240" cy="237744"/>
          </a:xfrm>
          <a:prstGeom prst="rect">
            <a:avLst/>
          </a:prstGeom>
          <a:noFill/>
          <a:ln/>
        </p:spPr>
        <p:txBody>
          <a:bodyPr wrap="square" lIns="0" tIns="0" rIns="0" bIns="0" rtlCol="0" anchor="ctr"/>
          <a:lstStyle/>
          <a:p>
            <a:pPr indent="0" marL="0">
              <a:buNone/>
            </a:pPr>
            <a:r>
              <a:rPr lang="en-US" sz="1200" i="1" dirty="0">
                <a:solidFill>
                  <a:srgbClr val="595959"/>
                </a:solidFill>
                <a:latin typeface="Calibri" pitchFamily="34" charset="0"/>
                <a:ea typeface="Calibri" pitchFamily="34" charset="-122"/>
                <a:cs typeface="Calibri" pitchFamily="34" charset="-120"/>
              </a:rPr>
              <a:t>Three models, combined by weight</a:t>
            </a:r>
            <a:endParaRPr lang="en-US" sz="12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291072" y="1810512"/>
          <a:ext cx="5349240" cy="914400"/>
        </p:xfrm>
        <a:graphic>
          <a:graphicData uri="http://schemas.openxmlformats.org/drawingml/2006/table">
            <a:tbl>
              <a:tblPr/>
              <a:tblGrid>
                <a:gridCol w="2103120"/>
                <a:gridCol w="2148840"/>
                <a:gridCol w="1097280"/>
              </a:tblGrid>
              <a:tr h="31089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10896">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Supervised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0.4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XGBoost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Supervised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0.4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10896">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Isolation Forest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Unsupervised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0.2</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6291072" y="3081528"/>
            <a:ext cx="5349240" cy="1737360"/>
          </a:xfrm>
          <a:prstGeom prst="rect">
            <a:avLst/>
          </a:prstGeom>
          <a:noFill/>
          <a:ln/>
        </p:spPr>
        <p:txBody>
          <a:bodyPr wrap="square" rtlCol="0" anchor="t"/>
          <a:lstStyle/>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Supervised models learn from labelled attacks</a:t>
            </a:r>
            <a:endParaRPr lang="en-US" sz="1250" dirty="0"/>
          </a:p>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Isolation Forest is trained only on normal traffic, so it can flag attack types absent from the training labels</a:t>
            </a:r>
            <a:endParaRPr lang="en-US" sz="1250" dirty="0"/>
          </a:p>
          <a:p>
            <a:pPr marL="342900" indent="-342900">
              <a:spcAft>
                <a:spcPts val="500"/>
              </a:spcAft>
              <a:buSzPct val="100000"/>
              <a:buChar char="•"/>
            </a:pPr>
            <a:r>
              <a:rPr lang="en-US" sz="1250" dirty="0">
                <a:solidFill>
                  <a:srgbClr val="375623"/>
                </a:solidFill>
                <a:latin typeface="Calibri" pitchFamily="34" charset="0"/>
                <a:ea typeface="Calibri" pitchFamily="34" charset="-122"/>
                <a:cs typeface="Calibri" pitchFamily="34" charset="-120"/>
              </a:rPr>
              <a:t>Strength: catches unseen variants</a:t>
            </a:r>
            <a:endParaRPr lang="en-US" sz="1250" dirty="0"/>
          </a:p>
          <a:p>
            <a:pPr marL="342900" indent="-342900">
              <a:spcAft>
                <a:spcPts val="500"/>
              </a:spcAft>
              <a:buSzPct val="100000"/>
              <a:buChar char="•"/>
            </a:pPr>
            <a:r>
              <a:rPr lang="en-US" sz="1250" dirty="0">
                <a:solidFill>
                  <a:srgbClr val="C00000"/>
                </a:solidFill>
                <a:latin typeface="Calibri" pitchFamily="34" charset="0"/>
                <a:ea typeface="Calibri" pitchFamily="34" charset="-122"/>
                <a:cs typeface="Calibri" pitchFamily="34" charset="-120"/>
              </a:rPr>
              <a:t>Weakness: cannot explain itself precisely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Combining the Two Scores</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Noisy-OR, not a weighted average - and why that choice matters</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15</a:t>
            </a:r>
            <a:endParaRPr lang="en-US" sz="900" dirty="0"/>
          </a:p>
        </p:txBody>
      </p:sp>
      <p:sp>
        <p:nvSpPr>
          <p:cNvPr id="6" name="Text 4"/>
          <p:cNvSpPr txBox="1"/>
          <p:nvPr/>
        </p:nvSpPr>
        <p:spPr>
          <a:xfrm>
            <a:off x="548640" y="12070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The combination rule</a:t>
            </a:r>
            <a:endParaRPr lang="en-US" sz="1600" dirty="0"/>
          </a:p>
        </p:txBody>
      </p:sp>
      <p:sp>
        <p:nvSpPr>
          <p:cNvPr id="7" name="Shape 5"/>
          <p:cNvSpPr/>
          <p:nvPr/>
        </p:nvSpPr>
        <p:spPr>
          <a:xfrm>
            <a:off x="548640" y="1536192"/>
            <a:ext cx="11091672" cy="658368"/>
          </a:xfrm>
          <a:prstGeom prst="rect">
            <a:avLst/>
          </a:prstGeom>
          <a:solidFill>
            <a:srgbClr val="F2F6FA"/>
          </a:solidFill>
          <a:ln w="9525">
            <a:solidFill>
              <a:srgbClr val="BFBFBF"/>
            </a:solidFill>
            <a:prstDash val="solid"/>
          </a:ln>
        </p:spPr>
      </p:sp>
      <p:sp>
        <p:nvSpPr>
          <p:cNvPr id="8" name="Text 6"/>
          <p:cNvSpPr txBox="1"/>
          <p:nvPr/>
        </p:nvSpPr>
        <p:spPr>
          <a:xfrm>
            <a:off x="548640" y="1627632"/>
            <a:ext cx="11091672" cy="475488"/>
          </a:xfrm>
          <a:prstGeom prst="rect">
            <a:avLst/>
          </a:prstGeom>
          <a:noFill/>
          <a:ln/>
        </p:spPr>
        <p:txBody>
          <a:bodyPr wrap="square" lIns="0" tIns="0" rIns="0" bIns="0" rtlCol="0" anchor="ctr"/>
          <a:lstStyle/>
          <a:p>
            <a:pPr algn="ctr" indent="0" marL="0">
              <a:buNone/>
            </a:pPr>
            <a:r>
              <a:rPr lang="en-US" sz="1700" b="1" dirty="0">
                <a:solidFill>
                  <a:srgbClr val="1F4E79"/>
                </a:solidFill>
                <a:latin typeface="Consolas" pitchFamily="34" charset="0"/>
                <a:ea typeface="Consolas" pitchFamily="34" charset="-122"/>
                <a:cs typeface="Consolas" pitchFamily="34" charset="-120"/>
              </a:rPr>
              <a:t>combined  =  1  -  (1 - rule_score) x (1 - ml_score)</a:t>
            </a:r>
            <a:endParaRPr lang="en-US" sz="1700" dirty="0"/>
          </a:p>
        </p:txBody>
      </p:sp>
      <p:sp>
        <p:nvSpPr>
          <p:cNvPr id="9" name="Text 7"/>
          <p:cNvSpPr txBox="1"/>
          <p:nvPr/>
        </p:nvSpPr>
        <p:spPr>
          <a:xfrm>
            <a:off x="548640" y="2377440"/>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Why not a simple weighted average?</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706624"/>
          <a:ext cx="11091672" cy="914400"/>
        </p:xfrm>
        <a:graphic>
          <a:graphicData uri="http://schemas.openxmlformats.org/drawingml/2006/table">
            <a:tbl>
              <a:tblPr/>
              <a:tblGrid>
                <a:gridCol w="3291840"/>
                <a:gridCol w="1371600"/>
                <a:gridCol w="1371600"/>
                <a:gridCol w="1600200"/>
                <a:gridCol w="1371600"/>
                <a:gridCol w="2084832"/>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Scenario</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Rule score</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ML score</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Weighted mean</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Noisy-OR</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Correct?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84048">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Obvious SQLi, ML also confident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0.98</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0.99</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Both work</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Brute force: rules certain, ML has no signal</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150" b="1" dirty="0">
                          <a:solidFill>
                            <a:srgbClr val="262626"/>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0.03</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150" b="1" dirty="0">
                          <a:solidFill>
                            <a:srgbClr val="C00000"/>
                          </a:solidFill>
                          <a:latin typeface="Calibri" pitchFamily="34" charset="0"/>
                          <a:ea typeface="Calibri" pitchFamily="34" charset="-122"/>
                          <a:cs typeface="Calibri" pitchFamily="34" charset="-120"/>
                        </a:rPr>
                        <a:t>0.52</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150" b="1" dirty="0">
                          <a:solidFill>
                            <a:srgbClr val="3756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150" b="1" dirty="0">
                          <a:solidFill>
                            <a:srgbClr val="262626"/>
                          </a:solidFill>
                          <a:latin typeface="Calibri" pitchFamily="34" charset="0"/>
                          <a:ea typeface="Calibri" pitchFamily="34" charset="-122"/>
                          <a:cs typeface="Calibri" pitchFamily="34" charset="-120"/>
                        </a:rPr>
                        <a:t>Noisy-OR only</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84048">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Evasive SQLi: rules weak, ML confident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0.50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62626"/>
                          </a:solidFill>
                          <a:latin typeface="Calibri" pitchFamily="34" charset="0"/>
                          <a:ea typeface="Calibri" pitchFamily="34" charset="-122"/>
                          <a:cs typeface="Calibri" pitchFamily="34" charset="-120"/>
                        </a:rPr>
                        <a:t>0.96</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0.73</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75623"/>
                          </a:solidFill>
                          <a:latin typeface="Calibri" pitchFamily="34" charset="0"/>
                          <a:ea typeface="Calibri" pitchFamily="34" charset="-122"/>
                          <a:cs typeface="Calibri" pitchFamily="34" charset="-120"/>
                        </a:rPr>
                        <a:t>0.98</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626"/>
                          </a:solidFill>
                          <a:latin typeface="Calibri" pitchFamily="34" charset="0"/>
                          <a:ea typeface="Calibri" pitchFamily="34" charset="-122"/>
                          <a:cs typeface="Calibri" pitchFamily="34" charset="-120"/>
                        </a:rPr>
                        <a:t>Noisy-OR stronger</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1" name="Shape 8"/>
          <p:cNvSpPr/>
          <p:nvPr/>
        </p:nvSpPr>
        <p:spPr>
          <a:xfrm>
            <a:off x="548640" y="4407408"/>
            <a:ext cx="11091672" cy="841248"/>
          </a:xfrm>
          <a:prstGeom prst="rect">
            <a:avLst/>
          </a:prstGeom>
          <a:solidFill>
            <a:srgbClr val="F2F6FA"/>
          </a:solidFill>
          <a:ln w="9525">
            <a:solidFill>
              <a:srgbClr val="BFBFBF"/>
            </a:solidFill>
            <a:prstDash val="solid"/>
          </a:ln>
        </p:spPr>
      </p:sp>
      <p:sp>
        <p:nvSpPr>
          <p:cNvPr id="12" name="Text 9"/>
          <p:cNvSpPr txBox="1"/>
          <p:nvPr/>
        </p:nvSpPr>
        <p:spPr>
          <a:xfrm>
            <a:off x="685800" y="4498848"/>
            <a:ext cx="10817352" cy="676656"/>
          </a:xfrm>
          <a:prstGeom prst="rect">
            <a:avLst/>
          </a:prstGeom>
          <a:noFill/>
          <a:ln/>
        </p:spPr>
        <p:txBody>
          <a:bodyPr wrap="square" lIns="0" tIns="0" rIns="0" bIns="0" rtlCol="0" anchor="ctr"/>
          <a:lstStyle/>
          <a:p>
            <a:pPr indent="0" marL="0">
              <a:buNone/>
            </a:pPr>
            <a:r>
              <a:rPr lang="en-US" sz="1250" b="1" dirty="0">
                <a:solidFill>
                  <a:srgbClr val="1F4E79"/>
                </a:solidFill>
                <a:latin typeface="Calibri" pitchFamily="34" charset="0"/>
                <a:ea typeface="Calibri" pitchFamily="34" charset="-122"/>
                <a:cs typeface="Calibri" pitchFamily="34" charset="-120"/>
              </a:rPr>
              <a:t>Key finding.  </a:t>
            </a:r>
            <a:pPr indent="0" marL="0">
              <a:buNone/>
            </a:pPr>
            <a:r>
              <a:rPr lang="en-US" sz="1250" dirty="0">
                <a:solidFill>
                  <a:srgbClr val="262626"/>
                </a:solidFill>
                <a:latin typeface="Calibri" pitchFamily="34" charset="0"/>
                <a:ea typeface="Calibri" pitchFamily="34" charset="-122"/>
                <a:cs typeface="Calibri" pitchFamily="34" charset="-120"/>
              </a:rPr>
              <a:t>A weighted mean allows a confident verdict from one stage to be cancelled by an uninformed verdict from the other. On behavioural attacks the ML carries no signal at all, so averaging would drag a certain rule verdict of 1.00 down to 0.52 - below the blocking threshold. Noisy-OR lets either stage raise the alarm independently; neither can veto the other.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indent="0" marL="0">
              <a:buNone/>
            </a:pPr>
            <a:r>
              <a:rPr lang="en-US" sz="1400" b="1" spc="200" kern="0" dirty="0">
                <a:solidFill>
                  <a:srgbClr val="2E75B6"/>
                </a:solidFill>
                <a:latin typeface="Calibri" pitchFamily="34" charset="0"/>
                <a:ea typeface="Calibri" pitchFamily="34" charset="-122"/>
                <a:cs typeface="Calibri" pitchFamily="34" charset="-120"/>
              </a:rPr>
              <a:t>SECTION 4</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indent="0" marL="0">
              <a:buNone/>
            </a:pPr>
            <a:r>
              <a:rPr lang="en-US" sz="3800" b="1" dirty="0">
                <a:solidFill>
                  <a:srgbClr val="1F4E79"/>
                </a:solidFill>
                <a:latin typeface="Calibri" pitchFamily="34" charset="0"/>
                <a:ea typeface="Calibri" pitchFamily="34" charset="-122"/>
                <a:cs typeface="Calibri" pitchFamily="34" charset="-120"/>
              </a:rPr>
              <a:t>Implementation and Data</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indent="0" marL="0">
              <a:buNone/>
            </a:pPr>
            <a:r>
              <a:rPr lang="en-US" sz="1500" dirty="0">
                <a:solidFill>
                  <a:srgbClr val="595959"/>
                </a:solidFill>
                <a:latin typeface="Calibri" pitchFamily="34" charset="0"/>
                <a:ea typeface="Calibri" pitchFamily="34" charset="-122"/>
                <a:cs typeface="Calibri" pitchFamily="34" charset="-120"/>
              </a:rPr>
              <a:t>Technology stack, datasets, and training methodology</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Technology Stack</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07008"/>
          <a:ext cx="11091672" cy="914400"/>
        </p:xfrm>
        <a:graphic>
          <a:graphicData uri="http://schemas.openxmlformats.org/drawingml/2006/table">
            <a:tbl>
              <a:tblPr/>
              <a:tblGrid>
                <a:gridCol w="2377440"/>
                <a:gridCol w="3291840"/>
                <a:gridCol w="5422392"/>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84048">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API and detection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Node.js 22, Express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REST API plus the rule engine and detection middleware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Feature extraction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JavaScript and Python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The same 17 features computed identically on both sides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84048">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Machine learning</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Python 3.13, scikit-learn, XGBoost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Model training and the inference service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Inference service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FastAPI, Uvicorn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Loads models once at startup, scores on request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84048">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Class imbalance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imbalanced-learn (SMOTE)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Applied to the training split only, and inside CV folds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Data handling</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pandas, NumPy, Parquet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Dataset unification and the processed corpus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84048">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Persistence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PostgreSQL 15</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Request log with full feature vector stored as JSONB</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Orchestration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Docker Compose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Reproducible multi-service startup with health checks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84048">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Version control</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Git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Phase-by-phase commit history with documented decisions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Datasets</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Four public research datasets unified into one labelled corpus</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18</a:t>
            </a:r>
            <a:endParaRPr lang="en-US" sz="900" dirty="0"/>
          </a:p>
        </p:txBody>
      </p:sp>
      <p:sp>
        <p:nvSpPr>
          <p:cNvPr id="6" name="Text 4"/>
          <p:cNvSpPr txBox="1"/>
          <p:nvPr/>
        </p:nvSpPr>
        <p:spPr>
          <a:xfrm>
            <a:off x="548640" y="12070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Training corpus</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1672" cy="914400"/>
        </p:xfrm>
        <a:graphic>
          <a:graphicData uri="http://schemas.openxmlformats.org/drawingml/2006/table">
            <a:tbl>
              <a:tblPr/>
              <a:tblGrid>
                <a:gridCol w="2560320"/>
                <a:gridCol w="3319272"/>
                <a:gridCol w="1737360"/>
                <a:gridCol w="1737360"/>
                <a:gridCol w="1737360"/>
              </a:tblGrid>
              <a:tr h="32918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Attack types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Benign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Attack</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29184">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Kaggle SQLiV3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SQL injection payloads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19,268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11,341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30,609</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CSIC 2010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Web application attacks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36,000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25,065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61,065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29184">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CICIDS2017 (Tue)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FTP and SSH brute force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412,692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9,152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421,844</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CICIDS2017 (Thu)</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Web brute force, SQLi</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162,157</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1,491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r" indent="0" marL="0">
                        <a:buNone/>
                      </a:pPr>
                      <a:r>
                        <a:rPr lang="en-US" sz="1200" dirty="0">
                          <a:solidFill>
                            <a:srgbClr val="262626"/>
                          </a:solidFill>
                          <a:latin typeface="Calibri" pitchFamily="34" charset="0"/>
                          <a:ea typeface="Calibri" pitchFamily="34" charset="-122"/>
                          <a:cs typeface="Calibri" pitchFamily="34" charset="-120"/>
                        </a:rPr>
                        <a:t>163,648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29184">
                <a:tc>
                  <a:txBody>
                    <a:bodyPr/>
                    <a:lstStyle/>
                    <a:p>
                      <a:pPr algn="l" indent="0" marL="0">
                        <a:buNone/>
                      </a:pPr>
                      <a:r>
                        <a:rPr lang="en-US" sz="1200" b="1" dirty="0">
                          <a:solidFill>
                            <a:srgbClr val="262626"/>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62626"/>
                          </a:solidFill>
                          <a:latin typeface="Calibri" pitchFamily="34" charset="0"/>
                          <a:ea typeface="Calibri" pitchFamily="34" charset="-122"/>
                          <a:cs typeface="Calibri" pitchFamily="34" charset="-120"/>
                        </a:rPr>
                        <a:t>630,117</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62626"/>
                          </a:solidFill>
                          <a:latin typeface="Calibri" pitchFamily="34" charset="0"/>
                          <a:ea typeface="Calibri" pitchFamily="34" charset="-122"/>
                          <a:cs typeface="Calibri" pitchFamily="34" charset="-120"/>
                        </a:rPr>
                        <a:t>47,049</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62626"/>
                          </a:solidFill>
                          <a:latin typeface="Calibri" pitchFamily="34" charset="0"/>
                          <a:ea typeface="Calibri" pitchFamily="34" charset="-122"/>
                          <a:cs typeface="Calibri" pitchFamily="34" charset="-120"/>
                        </a:rPr>
                        <a:t>677,166</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363016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Held-out set - never used in training</a:t>
            </a:r>
            <a:endParaRPr lang="en-US" sz="1600" dirty="0"/>
          </a:p>
        </p:txBody>
      </p:sp>
      <p:sp>
        <p:nvSpPr>
          <p:cNvPr id="9" name="Shape 6"/>
          <p:cNvSpPr/>
          <p:nvPr/>
        </p:nvSpPr>
        <p:spPr>
          <a:xfrm>
            <a:off x="548640" y="3959352"/>
            <a:ext cx="11091672" cy="566928"/>
          </a:xfrm>
          <a:prstGeom prst="rect">
            <a:avLst/>
          </a:prstGeom>
          <a:solidFill>
            <a:srgbClr val="F2F6FA"/>
          </a:solidFill>
          <a:ln w="9525">
            <a:solidFill>
              <a:srgbClr val="BFBFBF"/>
            </a:solidFill>
            <a:prstDash val="solid"/>
          </a:ln>
        </p:spPr>
      </p:sp>
      <p:sp>
        <p:nvSpPr>
          <p:cNvPr id="10" name="Text 7"/>
          <p:cNvSpPr txBox="1"/>
          <p:nvPr/>
        </p:nvSpPr>
        <p:spPr>
          <a:xfrm>
            <a:off x="685800" y="4041648"/>
            <a:ext cx="10817352" cy="402336"/>
          </a:xfrm>
          <a:prstGeom prst="rect">
            <a:avLst/>
          </a:prstGeom>
          <a:noFill/>
          <a:ln/>
        </p:spPr>
        <p:txBody>
          <a:bodyPr wrap="square" lIns="0" tIns="0" rIns="0" bIns="0" rtlCol="0" anchor="ctr"/>
          <a:lstStyle/>
          <a:p>
            <a:pPr indent="0" marL="0">
              <a:buNone/>
            </a:pPr>
            <a:r>
              <a:rPr lang="en-US" sz="1300" dirty="0">
                <a:solidFill>
                  <a:srgbClr val="262626"/>
                </a:solidFill>
                <a:latin typeface="Calibri" pitchFamily="34" charset="0"/>
                <a:ea typeface="Calibri" pitchFamily="34" charset="-122"/>
                <a:cs typeface="Calibri" pitchFamily="34" charset="-120"/>
              </a:rPr>
              <a:t>ATRDF 2023: 540,057 records (472,755 benign / 67,302 attack), reserved exclusively for cross-dataset generalisation testing.</a:t>
            </a:r>
            <a:endParaRPr lang="en-US" sz="1300" dirty="0"/>
          </a:p>
        </p:txBody>
      </p:sp>
      <p:sp>
        <p:nvSpPr>
          <p:cNvPr id="11" name="Text 8"/>
          <p:cNvSpPr txBox="1"/>
          <p:nvPr/>
        </p:nvSpPr>
        <p:spPr>
          <a:xfrm>
            <a:off x="548640" y="468172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Documented limitations of the corpus</a:t>
            </a:r>
            <a:endParaRPr lang="en-US" sz="1600" dirty="0"/>
          </a:p>
        </p:txBody>
      </p:sp>
      <p:sp>
        <p:nvSpPr>
          <p:cNvPr id="12" name="Text 9"/>
          <p:cNvSpPr txBox="1"/>
          <p:nvPr/>
        </p:nvSpPr>
        <p:spPr>
          <a:xfrm>
            <a:off x="548640" y="5010912"/>
            <a:ext cx="11091672" cy="822960"/>
          </a:xfrm>
          <a:prstGeom prst="rect">
            <a:avLst/>
          </a:prstGeom>
          <a:noFill/>
          <a:ln/>
        </p:spPr>
        <p:txBody>
          <a:bodyPr wrap="square" rtlCol="0" anchor="t"/>
          <a:lstStyle/>
          <a:p>
            <a:pPr marL="342900" indent="-3429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The corpus contains no credential-stuffing examples; that attack type is represented only by generated traffic.</a:t>
            </a:r>
            <a:endParaRPr lang="en-US" sz="1200" dirty="0"/>
          </a:p>
          <a:p>
            <a:pPr marL="342900" indent="-3429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CICIDS2017 flow records carry no source address or timestamp, so several behavioural features are zero-filled - a limitation with measurable consequences discussed later.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Training Methodology</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Designed so the reported results are not optimistic</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19</a:t>
            </a:r>
            <a:endParaRPr lang="en-US" sz="900" dirty="0"/>
          </a:p>
        </p:txBody>
      </p:sp>
      <p:sp>
        <p:nvSpPr>
          <p:cNvPr id="6" name="Text 4"/>
          <p:cNvSpPr txBox="1"/>
          <p:nvPr/>
        </p:nvSpPr>
        <p:spPr>
          <a:xfrm>
            <a:off x="548640" y="1298448"/>
            <a:ext cx="3931920" cy="36576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Three-way stratified split</a:t>
            </a:r>
            <a:endParaRPr lang="en-US" sz="1400" dirty="0"/>
          </a:p>
        </p:txBody>
      </p:sp>
      <p:sp>
        <p:nvSpPr>
          <p:cNvPr id="7" name="Text 5"/>
          <p:cNvSpPr txBox="1"/>
          <p:nvPr/>
        </p:nvSpPr>
        <p:spPr>
          <a:xfrm>
            <a:off x="4572000" y="1298448"/>
            <a:ext cx="7068312" cy="56692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Train 68% / Validation 12% / Test 20%. Stratified so class proportions are preserved in every split.</a:t>
            </a:r>
            <a:endParaRPr lang="en-US" sz="1250" dirty="0"/>
          </a:p>
        </p:txBody>
      </p:sp>
      <p:sp>
        <p:nvSpPr>
          <p:cNvPr id="8" name="Text 6"/>
          <p:cNvSpPr txBox="1"/>
          <p:nvPr/>
        </p:nvSpPr>
        <p:spPr>
          <a:xfrm>
            <a:off x="548640" y="1956816"/>
            <a:ext cx="3931920" cy="36576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Scaler fitted on training data only</a:t>
            </a:r>
            <a:endParaRPr lang="en-US" sz="1400" dirty="0"/>
          </a:p>
        </p:txBody>
      </p:sp>
      <p:sp>
        <p:nvSpPr>
          <p:cNvPr id="9" name="Text 7"/>
          <p:cNvSpPr txBox="1"/>
          <p:nvPr/>
        </p:nvSpPr>
        <p:spPr>
          <a:xfrm>
            <a:off x="4572000" y="1956816"/>
            <a:ext cx="7068312" cy="56692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The feature normaliser is fitted on the training split and then reused unchanged, so no information from validation or test data influences it.</a:t>
            </a:r>
            <a:endParaRPr lang="en-US" sz="1250" dirty="0"/>
          </a:p>
        </p:txBody>
      </p:sp>
      <p:sp>
        <p:nvSpPr>
          <p:cNvPr id="10" name="Text 8"/>
          <p:cNvSpPr txBox="1"/>
          <p:nvPr/>
        </p:nvSpPr>
        <p:spPr>
          <a:xfrm>
            <a:off x="548640" y="2615184"/>
            <a:ext cx="3931920" cy="36576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SMOTE applied after splitting</a:t>
            </a:r>
            <a:endParaRPr lang="en-US" sz="1400" dirty="0"/>
          </a:p>
        </p:txBody>
      </p:sp>
      <p:sp>
        <p:nvSpPr>
          <p:cNvPr id="11" name="Text 9"/>
          <p:cNvSpPr txBox="1"/>
          <p:nvPr/>
        </p:nvSpPr>
        <p:spPr>
          <a:xfrm>
            <a:off x="4572000" y="2615184"/>
            <a:ext cx="7068312" cy="56692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Synthetic minority oversampling is applied to the training split only, and inside each cross-validation fold - never to the full dataset before splitting.</a:t>
            </a:r>
            <a:endParaRPr lang="en-US" sz="1250" dirty="0"/>
          </a:p>
        </p:txBody>
      </p:sp>
      <p:sp>
        <p:nvSpPr>
          <p:cNvPr id="12" name="Text 10"/>
          <p:cNvSpPr txBox="1"/>
          <p:nvPr/>
        </p:nvSpPr>
        <p:spPr>
          <a:xfrm>
            <a:off x="548640" y="3273552"/>
            <a:ext cx="3931920" cy="36576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5-fold cross-validation</a:t>
            </a:r>
            <a:endParaRPr lang="en-US" sz="1400" dirty="0"/>
          </a:p>
        </p:txBody>
      </p:sp>
      <p:sp>
        <p:nvSpPr>
          <p:cNvPr id="13" name="Text 11"/>
          <p:cNvSpPr txBox="1"/>
          <p:nvPr/>
        </p:nvSpPr>
        <p:spPr>
          <a:xfrm>
            <a:off x="4572000" y="3273552"/>
            <a:ext cx="7068312" cy="56692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Confirms the single-split result is not an artefact of one lucky partition. CV agrees with the test split to within 0.001.</a:t>
            </a:r>
            <a:endParaRPr lang="en-US" sz="1250" dirty="0"/>
          </a:p>
        </p:txBody>
      </p:sp>
      <p:sp>
        <p:nvSpPr>
          <p:cNvPr id="14" name="Text 12"/>
          <p:cNvSpPr txBox="1"/>
          <p:nvPr/>
        </p:nvSpPr>
        <p:spPr>
          <a:xfrm>
            <a:off x="548640" y="3931920"/>
            <a:ext cx="3931920" cy="36576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Threshold selected on validation</a:t>
            </a:r>
            <a:endParaRPr lang="en-US" sz="1400" dirty="0"/>
          </a:p>
        </p:txBody>
      </p:sp>
      <p:sp>
        <p:nvSpPr>
          <p:cNvPr id="15" name="Text 13"/>
          <p:cNvSpPr txBox="1"/>
          <p:nvPr/>
        </p:nvSpPr>
        <p:spPr>
          <a:xfrm>
            <a:off x="4572000" y="3931920"/>
            <a:ext cx="7068312" cy="56692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The decision boundary is chosen by maximising F1 on the validation split, not the test split. Choosing it on test data would make reported results optimistic.</a:t>
            </a:r>
            <a:endParaRPr lang="en-US" sz="1250" dirty="0"/>
          </a:p>
        </p:txBody>
      </p:sp>
      <p:sp>
        <p:nvSpPr>
          <p:cNvPr id="16" name="Text 14"/>
          <p:cNvSpPr txBox="1"/>
          <p:nvPr/>
        </p:nvSpPr>
        <p:spPr>
          <a:xfrm>
            <a:off x="548640" y="4590288"/>
            <a:ext cx="3931920" cy="36576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Fixed random seed (42)</a:t>
            </a:r>
            <a:endParaRPr lang="en-US" sz="1400" dirty="0"/>
          </a:p>
        </p:txBody>
      </p:sp>
      <p:sp>
        <p:nvSpPr>
          <p:cNvPr id="17" name="Text 15"/>
          <p:cNvSpPr txBox="1"/>
          <p:nvPr/>
        </p:nvSpPr>
        <p:spPr>
          <a:xfrm>
            <a:off x="4572000" y="4590288"/>
            <a:ext cx="7068312" cy="56692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Training is reproducible: re-running produces identical figures, which was verified during the project.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indent="0" marL="0">
              <a:buNone/>
            </a:pPr>
            <a:r>
              <a:rPr lang="en-US" sz="1400" b="1" spc="200" kern="0" dirty="0">
                <a:solidFill>
                  <a:srgbClr val="2E75B6"/>
                </a:solidFill>
                <a:latin typeface="Calibri" pitchFamily="34" charset="0"/>
                <a:ea typeface="Calibri" pitchFamily="34" charset="-122"/>
                <a:cs typeface="Calibri" pitchFamily="34" charset="-120"/>
              </a:rPr>
              <a:t>SECTION 5</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indent="0" marL="0">
              <a:buNone/>
            </a:pPr>
            <a:r>
              <a:rPr lang="en-US" sz="3800" b="1" dirty="0">
                <a:solidFill>
                  <a:srgbClr val="1F4E79"/>
                </a:solidFill>
                <a:latin typeface="Calibri" pitchFamily="34" charset="0"/>
                <a:ea typeface="Calibri" pitchFamily="34" charset="-122"/>
                <a:cs typeface="Calibri" pitchFamily="34" charset="-120"/>
              </a:rPr>
              <a:t>Results and Live Demonstration</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indent="0" marL="0">
              <a:buNone/>
            </a:pPr>
            <a:r>
              <a:rPr lang="en-US" sz="1500" dirty="0">
                <a:solidFill>
                  <a:srgbClr val="595959"/>
                </a:solidFill>
                <a:latin typeface="Calibri" pitchFamily="34" charset="0"/>
                <a:ea typeface="Calibri" pitchFamily="34" charset="-122"/>
                <a:cs typeface="Calibri" pitchFamily="34" charset="-120"/>
              </a:rPr>
              <a:t>Measured performance, and direct evidence that the ML is engaged</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Individual Model Performance</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Measured on the held-back test split (135,434 requests)</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21</a:t>
            </a:r>
            <a:endParaRPr lang="en-US" sz="900" dirty="0"/>
          </a:p>
        </p:txBody>
      </p:sp>
      <p:graphicFrame>
        <p:nvGraphicFramePr>
          <p:cNvPr id="6" name="Chart 0" descr=""/>
          <p:cNvGraphicFramePr/>
          <p:nvPr/>
        </p:nvGraphicFramePr>
        <p:xfrm>
          <a:off x="548640" y="1298448"/>
          <a:ext cx="630936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086600" y="1207008"/>
            <a:ext cx="455371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Reading these figures correctly</a:t>
            </a:r>
            <a:endParaRPr lang="en-US" sz="1600" dirty="0"/>
          </a:p>
        </p:txBody>
      </p:sp>
      <p:sp>
        <p:nvSpPr>
          <p:cNvPr id="8" name="Text 5"/>
          <p:cNvSpPr txBox="1"/>
          <p:nvPr/>
        </p:nvSpPr>
        <p:spPr>
          <a:xfrm>
            <a:off x="7086600" y="1554480"/>
            <a:ext cx="4553712" cy="3017520"/>
          </a:xfrm>
          <a:prstGeom prst="rect">
            <a:avLst/>
          </a:prstGeom>
          <a:noFill/>
          <a:ln/>
        </p:spPr>
        <p:txBody>
          <a:bodyPr wrap="square" rtlCol="0" anchor="t"/>
          <a:lstStyle/>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Accuracy is misleading here.</a:t>
            </a:r>
            <a:endParaRPr lang="en-US" sz="1200" dirty="0"/>
          </a:p>
          <a:p>
            <a:pPr lvl="1" marL="508000"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The data is 13:1 benign. A model that blocked nothing would score about 93% accuracy while detecting zero attacks.</a:t>
            </a:r>
            <a:endParaRPr lang="en-US" sz="1200" dirty="0"/>
          </a:p>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ROC-AUC is the fairer comparison.</a:t>
            </a:r>
            <a:endParaRPr lang="en-US" sz="1200" dirty="0"/>
          </a:p>
          <a:p>
            <a:pPr lvl="1" marL="508000"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XGBoost ranks best at 0.9763, though Random Forest is stronger at the chosen operating point.</a:t>
            </a:r>
            <a:endParaRPr lang="en-US" sz="1200" dirty="0"/>
          </a:p>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No single model is used alone.</a:t>
            </a:r>
            <a:endParaRPr lang="en-US" sz="1200" dirty="0"/>
          </a:p>
          <a:p>
            <a:pPr lvl="1" marL="508000"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All three are combined by weight, because they fail in different ways.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Key Evidence: Is the Machine Learning Actually Engaged?</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The same attack, judged twice - the only variable is whether the ML service is running</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22</a:t>
            </a:r>
            <a:endParaRPr lang="en-US" sz="900" dirty="0"/>
          </a:p>
        </p:txBody>
      </p:sp>
      <p:sp>
        <p:nvSpPr>
          <p:cNvPr id="6" name="Text 4"/>
          <p:cNvSpPr txBox="1"/>
          <p:nvPr/>
        </p:nvSpPr>
        <p:spPr>
          <a:xfrm>
            <a:off x="548640" y="12070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Test payload</a:t>
            </a:r>
            <a:endParaRPr lang="en-US" sz="1600" dirty="0"/>
          </a:p>
        </p:txBody>
      </p:sp>
      <p:sp>
        <p:nvSpPr>
          <p:cNvPr id="7" name="Shape 5"/>
          <p:cNvSpPr/>
          <p:nvPr/>
        </p:nvSpPr>
        <p:spPr>
          <a:xfrm>
            <a:off x="548640" y="1517904"/>
            <a:ext cx="11091672" cy="457200"/>
          </a:xfrm>
          <a:prstGeom prst="rect">
            <a:avLst/>
          </a:prstGeom>
          <a:solidFill>
            <a:srgbClr val="F2F6FA"/>
          </a:solidFill>
          <a:ln w="9525">
            <a:solidFill>
              <a:srgbClr val="BFBFBF"/>
            </a:solidFill>
            <a:prstDash val="solid"/>
          </a:ln>
        </p:spPr>
      </p:sp>
      <p:sp>
        <p:nvSpPr>
          <p:cNvPr id="8" name="Text 6"/>
          <p:cNvSpPr txBox="1"/>
          <p:nvPr/>
        </p:nvSpPr>
        <p:spPr>
          <a:xfrm>
            <a:off x="548640" y="1572768"/>
            <a:ext cx="11091672" cy="347472"/>
          </a:xfrm>
          <a:prstGeom prst="rect">
            <a:avLst/>
          </a:prstGeom>
          <a:noFill/>
          <a:ln/>
        </p:spPr>
        <p:txBody>
          <a:bodyPr wrap="square" lIns="0" tIns="0" rIns="0" bIns="0" rtlCol="0" anchor="ctr"/>
          <a:lstStyle/>
          <a:p>
            <a:pPr algn="ctr" indent="0" marL="0">
              <a:buNone/>
            </a:pPr>
            <a:r>
              <a:rPr lang="en-US" sz="1500" b="1" dirty="0">
                <a:solidFill>
                  <a:srgbClr val="C00000"/>
                </a:solidFill>
                <a:latin typeface="Consolas" pitchFamily="34" charset="0"/>
                <a:ea typeface="Consolas" pitchFamily="34" charset="-122"/>
                <a:cs typeface="Consolas" pitchFamily="34" charset="-120"/>
              </a:rPr>
              <a:t>admin'-- DROP TABLE orders</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167128"/>
          <a:ext cx="11091672" cy="914400"/>
        </p:xfrm>
        <a:graphic>
          <a:graphicData uri="http://schemas.openxmlformats.org/drawingml/2006/table">
            <a:tbl>
              <a:tblPr/>
              <a:tblGrid>
                <a:gridCol w="2011680"/>
                <a:gridCol w="2011680"/>
                <a:gridCol w="2194560"/>
                <a:gridCol w="2377440"/>
                <a:gridCol w="2496312"/>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ML service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Rule score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ML score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Combined score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57200">
                <a:tc>
                  <a:txBody>
                    <a:bodyPr/>
                    <a:lstStyle/>
                    <a:p>
                      <a:pPr algn="l" indent="0" marL="0">
                        <a:buNone/>
                      </a:pPr>
                      <a:r>
                        <a:rPr lang="en-US" sz="1300" b="1" dirty="0">
                          <a:solidFill>
                            <a:srgbClr val="262626"/>
                          </a:solidFill>
                          <a:latin typeface="Calibri" pitchFamily="34" charset="0"/>
                          <a:ea typeface="Calibri" pitchFamily="34" charset="-122"/>
                          <a:cs typeface="Calibri" pitchFamily="34" charset="-120"/>
                        </a:rPr>
                        <a:t>Running</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2626"/>
                          </a:solidFill>
                          <a:latin typeface="Consolas" pitchFamily="34" charset="0"/>
                          <a:ea typeface="Consolas" pitchFamily="34" charset="-122"/>
                          <a:cs typeface="Consolas" pitchFamily="34" charset="-120"/>
                        </a:rPr>
                        <a:t>0.5000</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4E79"/>
                          </a:solidFill>
                          <a:latin typeface="Consolas" pitchFamily="34" charset="0"/>
                          <a:ea typeface="Consolas" pitchFamily="34" charset="-122"/>
                          <a:cs typeface="Consolas" pitchFamily="34" charset="-120"/>
                        </a:rPr>
                        <a:t>0.9618</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62626"/>
                          </a:solidFill>
                          <a:latin typeface="Consolas" pitchFamily="34" charset="0"/>
                          <a:ea typeface="Consolas" pitchFamily="34" charset="-122"/>
                          <a:cs typeface="Consolas" pitchFamily="34" charset="-120"/>
                        </a:rPr>
                        <a:t>0.9584</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75623"/>
                          </a:solidFill>
                          <a:latin typeface="Calibri" pitchFamily="34" charset="0"/>
                          <a:ea typeface="Calibri" pitchFamily="34" charset="-122"/>
                          <a:cs typeface="Calibri" pitchFamily="34" charset="-120"/>
                        </a:rPr>
                        <a:t>BLOCKED (403)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262626"/>
                          </a:solidFill>
                          <a:latin typeface="Calibri" pitchFamily="34" charset="0"/>
                          <a:ea typeface="Calibri" pitchFamily="34" charset="-122"/>
                          <a:cs typeface="Calibri" pitchFamily="34" charset="-120"/>
                        </a:rPr>
                        <a:t>Stopped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300" dirty="0">
                          <a:solidFill>
                            <a:srgbClr val="262626"/>
                          </a:solidFill>
                          <a:latin typeface="Consolas" pitchFamily="34" charset="0"/>
                          <a:ea typeface="Consolas" pitchFamily="34" charset="-122"/>
                          <a:cs typeface="Consolas" pitchFamily="34" charset="-120"/>
                        </a:rPr>
                        <a:t>0.5000</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300" dirty="0">
                          <a:solidFill>
                            <a:srgbClr val="262626"/>
                          </a:solidFill>
                          <a:latin typeface="Calibri" pitchFamily="34" charset="0"/>
                          <a:ea typeface="Calibri" pitchFamily="34" charset="-122"/>
                          <a:cs typeface="Calibri" pitchFamily="34" charset="-120"/>
                        </a:rPr>
                        <a:t>not available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300" b="1" dirty="0">
                          <a:solidFill>
                            <a:srgbClr val="262626"/>
                          </a:solidFill>
                          <a:latin typeface="Consolas" pitchFamily="34" charset="0"/>
                          <a:ea typeface="Consolas" pitchFamily="34" charset="-122"/>
                          <a:cs typeface="Consolas" pitchFamily="34" charset="-120"/>
                        </a:rPr>
                        <a:t>0.5000</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300" b="1" dirty="0">
                          <a:solidFill>
                            <a:srgbClr val="C00000"/>
                          </a:solidFill>
                          <a:latin typeface="Calibri" pitchFamily="34" charset="0"/>
                          <a:ea typeface="Calibri" pitchFamily="34" charset="-122"/>
                          <a:cs typeface="Calibri" pitchFamily="34" charset="-120"/>
                        </a:rPr>
                        <a:t>ALLOWED (200)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bl>
          </a:graphicData>
        </a:graphic>
      </p:graphicFrame>
      <p:sp>
        <p:nvSpPr>
          <p:cNvPr id="10" name="Text 7"/>
          <p:cNvSpPr txBox="1"/>
          <p:nvPr/>
        </p:nvSpPr>
        <p:spPr>
          <a:xfrm>
            <a:off x="548640" y="32644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Why this settles the question</a:t>
            </a:r>
            <a:endParaRPr lang="en-US" sz="1600" dirty="0"/>
          </a:p>
        </p:txBody>
      </p:sp>
      <p:sp>
        <p:nvSpPr>
          <p:cNvPr id="11" name="Text 8"/>
          <p:cNvSpPr txBox="1"/>
          <p:nvPr/>
        </p:nvSpPr>
        <p:spPr>
          <a:xfrm>
            <a:off x="548640" y="3611880"/>
            <a:ext cx="11091672" cy="2011680"/>
          </a:xfrm>
          <a:prstGeom prst="rect">
            <a:avLst/>
          </a:prstGeom>
          <a:noFill/>
          <a:ln/>
        </p:spPr>
        <p:txBody>
          <a:bodyPr wrap="square" rtlCol="0" anchor="t"/>
          <a:lstStyle/>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The rule engine scored this payload 0.5000 in both runs - below the blocking threshold of 0.70. On rules alone, this attack succeeds.</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With the ML service running, the classifier scored it 0.9618 and the request was blocked.</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The request was byte-for-byte identical. No configuration, rule or threshold was changed between the two runs.</a:t>
            </a:r>
            <a:endParaRPr lang="en-US" sz="1300" dirty="0"/>
          </a:p>
          <a:p>
            <a:pPr marL="342900" indent="-342900">
              <a:spcAft>
                <a:spcPts val="600"/>
              </a:spcAft>
              <a:buSzPct val="100000"/>
              <a:buChar char="•"/>
            </a:pPr>
            <a:r>
              <a:rPr lang="en-US" sz="1300" b="1" dirty="0">
                <a:solidFill>
                  <a:srgbClr val="1F4E79"/>
                </a:solidFill>
                <a:latin typeface="Calibri" pitchFamily="34" charset="0"/>
                <a:ea typeface="Calibri" pitchFamily="34" charset="-122"/>
                <a:cs typeface="Calibri" pitchFamily="34" charset="-120"/>
              </a:rPr>
              <a:t>No hardcoded pattern can produce different verdicts for identical input based on whether a separate process is running.</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The second row also demonstrates the fail-open policy: with the ML service down, the API kept serving rather than failing.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What the Model Actually Learned</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Random Forest feature importance - it is not doing keyword matching</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23</a:t>
            </a:r>
            <a:endParaRPr lang="en-US" sz="900" dirty="0"/>
          </a:p>
        </p:txBody>
      </p:sp>
      <p:graphicFrame>
        <p:nvGraphicFramePr>
          <p:cNvPr id="6" name="Chart 0" descr=""/>
          <p:cNvGraphicFramePr/>
          <p:nvPr/>
        </p:nvGraphicFramePr>
        <p:xfrm>
          <a:off x="548640" y="1298448"/>
          <a:ext cx="603504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858000" y="1207008"/>
            <a:ext cx="478231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The finding</a:t>
            </a:r>
            <a:endParaRPr lang="en-US" sz="1600" dirty="0"/>
          </a:p>
        </p:txBody>
      </p:sp>
      <p:sp>
        <p:nvSpPr>
          <p:cNvPr id="8" name="Shape 5"/>
          <p:cNvSpPr/>
          <p:nvPr/>
        </p:nvSpPr>
        <p:spPr>
          <a:xfrm>
            <a:off x="6858000" y="1536192"/>
            <a:ext cx="4782312" cy="1371600"/>
          </a:xfrm>
          <a:prstGeom prst="rect">
            <a:avLst/>
          </a:prstGeom>
          <a:solidFill>
            <a:srgbClr val="F2F6FA"/>
          </a:solidFill>
          <a:ln w="9525">
            <a:solidFill>
              <a:srgbClr val="BFBFBF"/>
            </a:solidFill>
            <a:prstDash val="solid"/>
          </a:ln>
        </p:spPr>
      </p:sp>
      <p:sp>
        <p:nvSpPr>
          <p:cNvPr id="9" name="Text 6"/>
          <p:cNvSpPr txBox="1"/>
          <p:nvPr/>
        </p:nvSpPr>
        <p:spPr>
          <a:xfrm>
            <a:off x="6995160" y="1645920"/>
            <a:ext cx="4507992" cy="1152144"/>
          </a:xfrm>
          <a:prstGeom prst="rect">
            <a:avLst/>
          </a:prstGeom>
          <a:noFill/>
          <a:ln/>
        </p:spPr>
        <p:txBody>
          <a:bodyPr wrap="square" lIns="0" tIns="0" rIns="0" bIns="0" rtlCol="0" anchor="t"/>
          <a:lstStyle/>
          <a:p>
            <a:pPr indent="0" marL="0">
              <a:buNone/>
            </a:pPr>
            <a:r>
              <a:rPr lang="en-US" sz="1250" b="1" dirty="0">
                <a:solidFill>
                  <a:srgbClr val="C00000"/>
                </a:solidFill>
                <a:latin typeface="Consolas" pitchFamily="34" charset="0"/>
                <a:ea typeface="Consolas" pitchFamily="34" charset="-122"/>
                <a:cs typeface="Consolas" pitchFamily="34" charset="-120"/>
              </a:rPr>
              <a:t>has_union_select</a:t>
            </a:r>
            <a:pPr indent="0" marL="0">
              <a:buNone/>
            </a:pPr>
            <a:r>
              <a:rPr lang="en-US" sz="1250" dirty="0">
                <a:solidFill>
                  <a:srgbClr val="262626"/>
                </a:solidFill>
                <a:latin typeface="Calibri" pitchFamily="34" charset="0"/>
                <a:ea typeface="Calibri" pitchFamily="34" charset="-122"/>
                <a:cs typeface="Calibri" pitchFamily="34" charset="-120"/>
              </a:rPr>
              <a:t> - the single most recognisable SQL injection signature - carries an importance of </a:t>
            </a:r>
            <a:pPr indent="0" marL="0">
              <a:buNone/>
            </a:pPr>
            <a:r>
              <a:rPr lang="en-US" sz="1250" b="1" dirty="0">
                <a:solidFill>
                  <a:srgbClr val="C00000"/>
                </a:solidFill>
                <a:latin typeface="Calibri" pitchFamily="34" charset="0"/>
                <a:ea typeface="Calibri" pitchFamily="34" charset="-122"/>
                <a:cs typeface="Calibri" pitchFamily="34" charset="-120"/>
              </a:rPr>
              <a:t>0.0001</a:t>
            </a:r>
            <a:pPr indent="0" marL="0">
              <a:buNone/>
            </a:pPr>
            <a:r>
              <a:rPr lang="en-US" sz="1250" dirty="0">
                <a:solidFill>
                  <a:srgbClr val="262626"/>
                </a:solidFill>
                <a:latin typeface="Calibri" pitchFamily="34" charset="0"/>
                <a:ea typeface="Calibri" pitchFamily="34" charset="-122"/>
                <a:cs typeface="Calibri" pitchFamily="34" charset="-120"/>
              </a:rPr>
              <a:t>. The model very nearly ignores it.</a:t>
            </a:r>
            <a:endParaRPr lang="en-US" sz="1250" dirty="0"/>
          </a:p>
        </p:txBody>
      </p:sp>
      <p:sp>
        <p:nvSpPr>
          <p:cNvPr id="10" name="Text 7"/>
          <p:cNvSpPr txBox="1"/>
          <p:nvPr/>
        </p:nvSpPr>
        <p:spPr>
          <a:xfrm>
            <a:off x="6858000" y="3081528"/>
            <a:ext cx="4782312" cy="2011680"/>
          </a:xfrm>
          <a:prstGeom prst="rect">
            <a:avLst/>
          </a:prstGeom>
          <a:noFill/>
          <a:ln/>
        </p:spPr>
        <p:txBody>
          <a:bodyPr wrap="square" rtlCol="0" anchor="t"/>
          <a:lstStyle/>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The model relies on statistical texture: length, randomness of characters, and punctuation density.</a:t>
            </a:r>
            <a:endParaRPr lang="en-US" sz="1200" dirty="0"/>
          </a:p>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Keyword flags are left to the rule engine, which already handles them precisely and cheaply.</a:t>
            </a:r>
            <a:endParaRPr lang="en-US" sz="1200" dirty="0"/>
          </a:p>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This division of labour is why the hybrid generalises to attacks that no rule describes.</a:t>
            </a:r>
            <a:endParaRPr lang="en-US" sz="1200" dirty="0"/>
          </a:p>
          <a:p>
            <a:pPr marL="342900" indent="-342900">
              <a:spcAft>
                <a:spcPts val="600"/>
              </a:spcAft>
              <a:buSzPct val="100000"/>
              <a:buChar char="•"/>
            </a:pPr>
            <a:r>
              <a:rPr lang="en-US" sz="1200" b="1" dirty="0">
                <a:solidFill>
                  <a:srgbClr val="1F4E79"/>
                </a:solidFill>
                <a:latin typeface="Calibri" pitchFamily="34" charset="0"/>
                <a:ea typeface="Calibri" pitchFamily="34" charset="-122"/>
                <a:cs typeface="Calibri" pitchFamily="34" charset="-120"/>
              </a:rPr>
              <a:t>Also visible: the four behavioural features score 0.0000, discussed under limitations.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Attack Simulation Results</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217 generated requests against the running system, all labelled at source</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914400"/>
        </p:xfrm>
        <a:graphic>
          <a:graphicData uri="http://schemas.openxmlformats.org/drawingml/2006/table">
            <a:tbl>
              <a:tblPr/>
              <a:tblGrid>
                <a:gridCol w="2286000"/>
                <a:gridCol w="1188720"/>
                <a:gridCol w="2651760"/>
                <a:gridCol w="4965192"/>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Traffic type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Requests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this demonstrates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75488">
                <a:tc>
                  <a:txBody>
                    <a:bodyPr/>
                    <a:lstStyle/>
                    <a:p>
                      <a:pPr algn="l" indent="0" marL="0">
                        <a:buNone/>
                      </a:pPr>
                      <a:r>
                        <a:rPr lang="en-US" sz="1250" b="1" dirty="0">
                          <a:solidFill>
                            <a:srgbClr val="262626"/>
                          </a:solidFill>
                          <a:latin typeface="Calibri" pitchFamily="34" charset="0"/>
                          <a:ea typeface="Calibri" pitchFamily="34" charset="-122"/>
                          <a:cs typeface="Calibri" pitchFamily="34" charset="-120"/>
                        </a:rPr>
                        <a:t>Benign traffic</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62626"/>
                          </a:solidFill>
                          <a:latin typeface="Calibri" pitchFamily="34" charset="0"/>
                          <a:ea typeface="Calibri" pitchFamily="34" charset="-122"/>
                          <a:cs typeface="Calibri" pitchFamily="34" charset="-120"/>
                        </a:rPr>
                        <a:t>114</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375623"/>
                          </a:solidFill>
                          <a:latin typeface="Calibri" pitchFamily="34" charset="0"/>
                          <a:ea typeface="Calibri" pitchFamily="34" charset="-122"/>
                          <a:cs typeface="Calibri" pitchFamily="34" charset="-120"/>
                        </a:rPr>
                        <a:t>1.8% blocked</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Legitimate users are very rarely disturbed</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262626"/>
                          </a:solidFill>
                          <a:latin typeface="Calibri" pitchFamily="34" charset="0"/>
                          <a:ea typeface="Calibri" pitchFamily="34" charset="-122"/>
                          <a:cs typeface="Calibri" pitchFamily="34" charset="-120"/>
                        </a:rPr>
                        <a:t>SQL injection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262626"/>
                          </a:solidFill>
                          <a:latin typeface="Calibri" pitchFamily="34" charset="0"/>
                          <a:ea typeface="Calibri" pitchFamily="34" charset="-122"/>
                          <a:cs typeface="Calibri" pitchFamily="34" charset="-120"/>
                        </a:rPr>
                        <a:t>26</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b="1" dirty="0">
                          <a:solidFill>
                            <a:srgbClr val="375623"/>
                          </a:solidFill>
                          <a:latin typeface="Calibri" pitchFamily="34" charset="0"/>
                          <a:ea typeface="Calibri" pitchFamily="34" charset="-122"/>
                          <a:cs typeface="Calibri" pitchFamily="34" charset="-120"/>
                        </a:rPr>
                        <a:t>100% blocked</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All six injection families detected, including obfuscated variants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475488">
                <a:tc>
                  <a:txBody>
                    <a:bodyPr/>
                    <a:lstStyle/>
                    <a:p>
                      <a:pPr algn="l" indent="0" marL="0">
                        <a:buNone/>
                      </a:pPr>
                      <a:r>
                        <a:rPr lang="en-US" sz="1250" b="1" dirty="0">
                          <a:solidFill>
                            <a:srgbClr val="262626"/>
                          </a:solidFill>
                          <a:latin typeface="Calibri" pitchFamily="34" charset="0"/>
                          <a:ea typeface="Calibri" pitchFamily="34" charset="-122"/>
                          <a:cs typeface="Calibri" pitchFamily="34" charset="-120"/>
                        </a:rPr>
                        <a:t>Brute force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62626"/>
                          </a:solidFill>
                          <a:latin typeface="Calibri" pitchFamily="34" charset="0"/>
                          <a:ea typeface="Calibri" pitchFamily="34" charset="-122"/>
                          <a:cs typeface="Calibri" pitchFamily="34" charset="-120"/>
                        </a:rPr>
                        <a:t>31</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375623"/>
                          </a:solidFill>
                          <a:latin typeface="Calibri" pitchFamily="34" charset="0"/>
                          <a:ea typeface="Calibri" pitchFamily="34" charset="-122"/>
                          <a:cs typeface="Calibri" pitchFamily="34" charset="-120"/>
                        </a:rPr>
                        <a:t>Blocked from attempt 5</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Behavioural rule fires once a pattern exists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262626"/>
                          </a:solidFill>
                          <a:latin typeface="Calibri" pitchFamily="34" charset="0"/>
                          <a:ea typeface="Calibri" pitchFamily="34" charset="-122"/>
                          <a:cs typeface="Calibri" pitchFamily="34" charset="-120"/>
                        </a:rPr>
                        <a:t>Credential stuffing</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262626"/>
                          </a:solidFill>
                          <a:latin typeface="Calibri" pitchFamily="34" charset="0"/>
                          <a:ea typeface="Calibri" pitchFamily="34" charset="-122"/>
                          <a:cs typeface="Calibri" pitchFamily="34" charset="-120"/>
                        </a:rPr>
                        <a:t>46</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b="1" dirty="0">
                          <a:solidFill>
                            <a:srgbClr val="375623"/>
                          </a:solidFill>
                          <a:latin typeface="Calibri" pitchFamily="34" charset="0"/>
                          <a:ea typeface="Calibri" pitchFamily="34" charset="-122"/>
                          <a:cs typeface="Calibri" pitchFamily="34" charset="-120"/>
                        </a:rPr>
                        <a:t>Blocked from username 5</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50" dirty="0">
                          <a:solidFill>
                            <a:srgbClr val="262626"/>
                          </a:solidFill>
                          <a:latin typeface="Calibri" pitchFamily="34" charset="0"/>
                          <a:ea typeface="Calibri" pitchFamily="34" charset="-122"/>
                          <a:cs typeface="Calibri" pitchFamily="34" charset="-120"/>
                        </a:rPr>
                        <a:t>Triggered by breadth of distinct usernames from one source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bl>
          </a:graphicData>
        </a:graphic>
      </p:graphicFrame>
      <p:sp>
        <p:nvSpPr>
          <p:cNvPr id="7" name="Text 4"/>
          <p:cNvSpPr txBox="1"/>
          <p:nvPr/>
        </p:nvSpPr>
        <p:spPr>
          <a:xfrm>
            <a:off x="548640" y="349300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SQL injection detection by variant</a:t>
            </a:r>
            <a:endParaRPr lang="en-US" sz="160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548640" y="3822192"/>
          <a:ext cx="5349240" cy="914400"/>
        </p:xfrm>
        <a:graphic>
          <a:graphicData uri="http://schemas.openxmlformats.org/drawingml/2006/table">
            <a:tbl>
              <a:tblPr/>
              <a:tblGrid>
                <a:gridCol w="3520440"/>
                <a:gridCol w="1828800"/>
              </a:tblGrid>
              <a:tr h="2743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Variant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Detected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432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Tautology</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75623"/>
                          </a:solidFill>
                          <a:latin typeface="Calibri" pitchFamily="34" charset="0"/>
                          <a:ea typeface="Calibri" pitchFamily="34" charset="-122"/>
                          <a:cs typeface="Calibri" pitchFamily="34" charset="-120"/>
                        </a:rPr>
                        <a:t>5 / 5</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Union-based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150" b="1" dirty="0">
                          <a:solidFill>
                            <a:srgbClr val="375623"/>
                          </a:solidFill>
                          <a:latin typeface="Calibri" pitchFamily="34" charset="0"/>
                          <a:ea typeface="Calibri" pitchFamily="34" charset="-122"/>
                          <a:cs typeface="Calibri" pitchFamily="34" charset="-120"/>
                        </a:rPr>
                        <a:t>4 / 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27432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Comment-terminated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75623"/>
                          </a:solidFill>
                          <a:latin typeface="Calibri" pitchFamily="34" charset="0"/>
                          <a:ea typeface="Calibri" pitchFamily="34" charset="-122"/>
                          <a:cs typeface="Calibri" pitchFamily="34" charset="-120"/>
                        </a:rPr>
                        <a:t>4 / 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Stacked queries</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150" b="1" dirty="0">
                          <a:solidFill>
                            <a:srgbClr val="375623"/>
                          </a:solidFill>
                          <a:latin typeface="Calibri" pitchFamily="34" charset="0"/>
                          <a:ea typeface="Calibri" pitchFamily="34" charset="-122"/>
                          <a:cs typeface="Calibri" pitchFamily="34" charset="-120"/>
                        </a:rPr>
                        <a:t>3 / 3</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27432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Obfuscated / encoded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75623"/>
                          </a:solidFill>
                          <a:latin typeface="Calibri" pitchFamily="34" charset="0"/>
                          <a:ea typeface="Calibri" pitchFamily="34" charset="-122"/>
                          <a:cs typeface="Calibri" pitchFamily="34" charset="-120"/>
                        </a:rPr>
                        <a:t>6 / 6</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262626"/>
                          </a:solidFill>
                          <a:latin typeface="Calibri" pitchFamily="34" charset="0"/>
                          <a:ea typeface="Calibri" pitchFamily="34" charset="-122"/>
                          <a:cs typeface="Calibri" pitchFamily="34" charset="-120"/>
                        </a:rPr>
                        <a:t>Blind (boolean / time)</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150" b="1" dirty="0">
                          <a:solidFill>
                            <a:srgbClr val="375623"/>
                          </a:solidFill>
                          <a:latin typeface="Calibri" pitchFamily="34" charset="0"/>
                          <a:ea typeface="Calibri" pitchFamily="34" charset="-122"/>
                          <a:cs typeface="Calibri" pitchFamily="34" charset="-120"/>
                        </a:rPr>
                        <a:t>4 / 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bl>
          </a:graphicData>
        </a:graphic>
      </p:graphicFrame>
      <p:sp>
        <p:nvSpPr>
          <p:cNvPr id="9" name="Text 5"/>
          <p:cNvSpPr txBox="1"/>
          <p:nvPr/>
        </p:nvSpPr>
        <p:spPr>
          <a:xfrm>
            <a:off x="6291072" y="349300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Interpreting the behavioural results honestly</a:t>
            </a:r>
            <a:endParaRPr lang="en-US" sz="1600" dirty="0"/>
          </a:p>
        </p:txBody>
      </p:sp>
      <p:sp>
        <p:nvSpPr>
          <p:cNvPr id="10" name="Text 6"/>
          <p:cNvSpPr txBox="1"/>
          <p:nvPr/>
        </p:nvSpPr>
        <p:spPr>
          <a:xfrm>
            <a:off x="6291072" y="3822192"/>
            <a:ext cx="53492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Blocking at attempt 5 is not a delay to apologise for - it is the earliest point at which a brute force is distinguishable from a mistyped password.</a:t>
            </a:r>
            <a:endParaRPr lang="en-US" sz="1200" dirty="0"/>
          </a:p>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Attack recall is reported as 91.7% rather than a higher figure precisely because the undetectable early attempts are counted as misses.</a:t>
            </a:r>
            <a:endParaRPr lang="en-US" sz="1200" dirty="0"/>
          </a:p>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The two benign requests that were blocked are genuinely ambiguous searches containing an apostrophe or hyphen.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A Finding From Measurement</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The hybrid was initially worse than the baseline - and why</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25</a:t>
            </a:r>
            <a:endParaRPr lang="en-US" sz="900" dirty="0"/>
          </a:p>
        </p:txBody>
      </p:sp>
      <p:sp>
        <p:nvSpPr>
          <p:cNvPr id="6" name="Text 4"/>
          <p:cNvSpPr txBox="1"/>
          <p:nvPr/>
        </p:nvSpPr>
        <p:spPr>
          <a:xfrm>
            <a:off x="548640" y="12070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The problem</a:t>
            </a:r>
            <a:endParaRPr lang="en-US" sz="1600" dirty="0"/>
          </a:p>
        </p:txBody>
      </p:sp>
      <p:sp>
        <p:nvSpPr>
          <p:cNvPr id="7" name="Text 5"/>
          <p:cNvSpPr txBox="1"/>
          <p:nvPr/>
        </p:nvSpPr>
        <p:spPr>
          <a:xfrm>
            <a:off x="548640" y="1517904"/>
            <a:ext cx="11091672" cy="457200"/>
          </a:xfrm>
          <a:prstGeom prst="rect">
            <a:avLst/>
          </a:prstGeom>
          <a:noFill/>
          <a:ln/>
        </p:spPr>
        <p:txBody>
          <a:bodyPr wrap="square" lIns="0" tIns="0" rIns="0" bIns="0" rtlCol="0" anchor="ctr"/>
          <a:lstStyle/>
          <a:p>
            <a:pPr indent="0" marL="0">
              <a:buNone/>
            </a:pPr>
            <a:r>
              <a:rPr lang="en-US" sz="1350" dirty="0">
                <a:solidFill>
                  <a:srgbClr val="262626"/>
                </a:solidFill>
                <a:latin typeface="Calibri" pitchFamily="34" charset="0"/>
                <a:ea typeface="Calibri" pitchFamily="34" charset="-122"/>
                <a:cs typeface="Calibri" pitchFamily="34" charset="-120"/>
              </a:rPr>
              <a:t>When first measured against representative benign traffic, the hybrid blocked 17.5% of legitimate requests. The rule engine alone blocked 0%. The proposed contribution was measurably worse than the baseline it was meant to improve.</a:t>
            </a:r>
            <a:endParaRPr lang="en-US" sz="1350" dirty="0"/>
          </a:p>
        </p:txBody>
      </p:sp>
      <p:sp>
        <p:nvSpPr>
          <p:cNvPr id="8" name="Text 6"/>
          <p:cNvSpPr txBox="1"/>
          <p:nvPr/>
        </p:nvSpPr>
        <p:spPr>
          <a:xfrm>
            <a:off x="548640" y="207568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Diagnosis: broken down by endpoint</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404872"/>
          <a:ext cx="5349240" cy="914400"/>
        </p:xfrm>
        <a:graphic>
          <a:graphicData uri="http://schemas.openxmlformats.org/drawingml/2006/table">
            <a:tbl>
              <a:tblPr/>
              <a:tblGrid>
                <a:gridCol w="2148840"/>
                <a:gridCol w="1463040"/>
                <a:gridCol w="1737360"/>
              </a:tblGrid>
              <a:tr h="31089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Endpoint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Requests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Scored as attack</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10896">
                <a:tc>
                  <a:txBody>
                    <a:bodyPr/>
                    <a:lstStyle/>
                    <a:p>
                      <a:pPr algn="l" indent="0" marL="0">
                        <a:buNone/>
                      </a:pPr>
                      <a:r>
                        <a:rPr lang="en-US" sz="1200" dirty="0">
                          <a:solidFill>
                            <a:srgbClr val="262626"/>
                          </a:solidFill>
                          <a:latin typeface="Consolas" pitchFamily="34" charset="0"/>
                          <a:ea typeface="Consolas" pitchFamily="34" charset="-122"/>
                          <a:cs typeface="Consolas" pitchFamily="34" charset="-120"/>
                        </a:rPr>
                        <a:t>/api/auth/*</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262626"/>
                          </a:solidFill>
                          <a:latin typeface="Consolas" pitchFamily="34" charset="0"/>
                          <a:ea typeface="Consolas" pitchFamily="34" charset="-122"/>
                          <a:cs typeface="Consolas" pitchFamily="34" charset="-120"/>
                        </a:rPr>
                        <a:t>/api/orders/*</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dirty="0">
                          <a:solidFill>
                            <a:srgbClr val="37562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310896">
                <a:tc>
                  <a:txBody>
                    <a:bodyPr/>
                    <a:lstStyle/>
                    <a:p>
                      <a:pPr algn="l" indent="0" marL="0">
                        <a:buNone/>
                      </a:pPr>
                      <a:r>
                        <a:rPr lang="en-US" sz="1200" dirty="0">
                          <a:solidFill>
                            <a:srgbClr val="262626"/>
                          </a:solidFill>
                          <a:latin typeface="Consolas" pitchFamily="34" charset="0"/>
                          <a:ea typeface="Consolas" pitchFamily="34" charset="-122"/>
                          <a:cs typeface="Consolas" pitchFamily="34" charset="-120"/>
                        </a:rPr>
                        <a:t>/api/search/*</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7562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48640" y="3675888"/>
            <a:ext cx="5349240" cy="91440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The false positives were not spread across traffic - they were concentrated on authentication. The payload classifier was scoring credential POST bodies, which are high-entropy and dense with punctuation, as though they were injection payloads.</a:t>
            </a:r>
            <a:endParaRPr lang="en-US" sz="1200" dirty="0"/>
          </a:p>
        </p:txBody>
      </p:sp>
      <p:sp>
        <p:nvSpPr>
          <p:cNvPr id="11" name="Text 8"/>
          <p:cNvSpPr txBox="1"/>
          <p:nvPr/>
        </p:nvSpPr>
        <p:spPr>
          <a:xfrm>
            <a:off x="6291072" y="207568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Why raising the threshold could not fix it</a:t>
            </a:r>
            <a:endParaRPr lang="en-US" sz="1600" dirty="0"/>
          </a:p>
        </p:txBody>
      </p:sp>
      <p:sp>
        <p:nvSpPr>
          <p:cNvPr id="12" name="Text 9"/>
          <p:cNvSpPr txBox="1"/>
          <p:nvPr/>
        </p:nvSpPr>
        <p:spPr>
          <a:xfrm>
            <a:off x="6291072" y="2404872"/>
            <a:ext cx="5349240" cy="8686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False positives only became acceptable at a threshold of 0.85 - but at that point the ML stopped catching the injections the rules miss, with recall collapsing from 99% to 83%. The benign login scores sat directly on top of the genuine attack scores.</a:t>
            </a:r>
            <a:endParaRPr lang="en-US" sz="1200" dirty="0"/>
          </a:p>
        </p:txBody>
      </p:sp>
      <p:sp>
        <p:nvSpPr>
          <p:cNvPr id="13" name="Text 10"/>
          <p:cNvSpPr txBox="1"/>
          <p:nvPr/>
        </p:nvSpPr>
        <p:spPr>
          <a:xfrm>
            <a:off x="6291072" y="331012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The fix, and the result</a:t>
            </a:r>
            <a:endParaRPr lang="en-US" sz="1600" dirty="0"/>
          </a:p>
        </p:txBody>
      </p:sp>
      <p:sp>
        <p:nvSpPr>
          <p:cNvPr id="14" name="Text 11"/>
          <p:cNvSpPr txBox="1"/>
          <p:nvPr/>
        </p:nvSpPr>
        <p:spPr>
          <a:xfrm>
            <a:off x="6291072" y="3639312"/>
            <a:ext cx="5349240" cy="6400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The payload model is now applied only to endpoints where a payload model has meaning. Authentication is judged by the behavioural rules, which is how those attacks are caught in any case.</a:t>
            </a:r>
            <a:endParaRPr lang="en-US" sz="1200" dirty="0"/>
          </a:p>
        </p:txBody>
      </p:sp>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291072" y="4361688"/>
          <a:ext cx="5349240" cy="914400"/>
        </p:xfrm>
        <a:graphic>
          <a:graphicData uri="http://schemas.openxmlformats.org/drawingml/2006/table">
            <a:tbl>
              <a:tblPr/>
              <a:tblGrid>
                <a:gridCol w="2606040"/>
                <a:gridCol w="1371600"/>
                <a:gridCol w="1371600"/>
              </a:tblGrid>
              <a:tr h="29260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92608">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Benign false positives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75623"/>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SQL injection detection</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dirty="0">
                          <a:solidFill>
                            <a:srgbClr val="262626"/>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ctr" indent="0" marL="0">
                        <a:buNone/>
                      </a:pPr>
                      <a:r>
                        <a:rPr lang="en-US" sz="1200" dirty="0">
                          <a:solidFill>
                            <a:srgbClr val="37562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Performance and Overhead</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Detection must not make the API unusable</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26</a:t>
            </a:r>
            <a:endParaRPr lang="en-US" sz="900" dirty="0"/>
          </a:p>
        </p:txBody>
      </p:sp>
      <p:graphicFrame>
        <p:nvGraphicFramePr>
          <p:cNvPr id="6" name="Chart 0" descr=""/>
          <p:cNvGraphicFramePr/>
          <p:nvPr/>
        </p:nvGraphicFramePr>
        <p:xfrm>
          <a:off x="548640" y="1389888"/>
          <a:ext cx="5852160" cy="29260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858000" y="1207008"/>
            <a:ext cx="478231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Observations</a:t>
            </a:r>
            <a:endParaRPr lang="en-US" sz="1600" dirty="0"/>
          </a:p>
        </p:txBody>
      </p:sp>
      <p:sp>
        <p:nvSpPr>
          <p:cNvPr id="8" name="Text 5"/>
          <p:cNvSpPr txBox="1"/>
          <p:nvPr/>
        </p:nvSpPr>
        <p:spPr>
          <a:xfrm>
            <a:off x="6858000" y="1554480"/>
            <a:ext cx="4782312" cy="3108960"/>
          </a:xfrm>
          <a:prstGeom prst="rect">
            <a:avLst/>
          </a:prstGeom>
          <a:noFill/>
          <a:ln/>
        </p:spPr>
        <p:txBody>
          <a:bodyPr wrap="square" rtlCol="0" anchor="t"/>
          <a:lstStyle/>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Within the design budget.</a:t>
            </a:r>
            <a:endParaRPr lang="en-US" sz="1200" dirty="0"/>
          </a:p>
          <a:p>
            <a:pPr lvl="1" marL="508000"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A non-functional requirement of under 100 ms added latency was set at design time. p95 is 51.3 ms.</a:t>
            </a:r>
            <a:endParaRPr lang="en-US" sz="1200" dirty="0"/>
          </a:p>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Rules alone are eight times cheaper.</a:t>
            </a:r>
            <a:endParaRPr lang="en-US" sz="1200" dirty="0"/>
          </a:p>
          <a:p>
            <a:pPr lvl="1" marL="508000"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6.1 ms against 47.7 ms. The cost is dominated by the Random Forest at roughly 16 ms per prediction.</a:t>
            </a:r>
            <a:endParaRPr lang="en-US" sz="1200" dirty="0"/>
          </a:p>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High-severity rules bypass the ML entirely.</a:t>
            </a:r>
            <a:endParaRPr lang="en-US" sz="1200" dirty="0"/>
          </a:p>
          <a:p>
            <a:pPr lvl="1" marL="508000"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Requests rejected by a certain rule complete in 1 to 3 ms, because the classifier is never consulted.</a:t>
            </a:r>
            <a:endParaRPr lang="en-US" sz="1200" dirty="0"/>
          </a:p>
          <a:p>
            <a:pPr marL="342900" indent="-342900">
              <a:spcAft>
                <a:spcPts val="500"/>
              </a:spcAft>
              <a:buSzPct val="100000"/>
              <a:buChar char="•"/>
            </a:pPr>
            <a:r>
              <a:rPr lang="en-US" sz="1200" b="1" dirty="0">
                <a:solidFill>
                  <a:srgbClr val="1F4E79"/>
                </a:solidFill>
                <a:latin typeface="Calibri" pitchFamily="34" charset="0"/>
                <a:ea typeface="Calibri" pitchFamily="34" charset="-122"/>
                <a:cs typeface="Calibri" pitchFamily="34" charset="-120"/>
              </a:rPr>
              <a:t>This is a single-client measurement, not a load test.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indent="0" marL="0">
              <a:buNone/>
            </a:pPr>
            <a:r>
              <a:rPr lang="en-US" sz="1400" b="1" spc="200" kern="0" dirty="0">
                <a:solidFill>
                  <a:srgbClr val="2E75B6"/>
                </a:solidFill>
                <a:latin typeface="Calibri" pitchFamily="34" charset="0"/>
                <a:ea typeface="Calibri" pitchFamily="34" charset="-122"/>
                <a:cs typeface="Calibri" pitchFamily="34" charset="-120"/>
              </a:rPr>
              <a:t>SECTION 6</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indent="0" marL="0">
              <a:buNone/>
            </a:pPr>
            <a:r>
              <a:rPr lang="en-US" sz="3800" b="1" dirty="0">
                <a:solidFill>
                  <a:srgbClr val="1F4E79"/>
                </a:solidFill>
                <a:latin typeface="Calibri" pitchFamily="34" charset="0"/>
                <a:ea typeface="Calibri" pitchFamily="34" charset="-122"/>
                <a:cs typeface="Calibri" pitchFamily="34" charset="-120"/>
              </a:rPr>
              <a:t>Limitations and Conclusion</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indent="0" marL="0">
              <a:buNone/>
            </a:pPr>
            <a:r>
              <a:rPr lang="en-US" sz="1500" dirty="0">
                <a:solidFill>
                  <a:srgbClr val="595959"/>
                </a:solidFill>
                <a:latin typeface="Calibri" pitchFamily="34" charset="0"/>
                <a:ea typeface="Calibri" pitchFamily="34" charset="-122"/>
                <a:cs typeface="Calibri" pitchFamily="34" charset="-120"/>
              </a:rPr>
              <a:t>Constraints stated openly, and what the work establishes</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Limitations (1 of 2)</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Stated openly - each is documented in the project record</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548640" y="1252728"/>
            <a:ext cx="11091672" cy="292608"/>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Behavioural features contribute nothing to the ML</a:t>
            </a:r>
            <a:endParaRPr lang="en-US" sz="1500" dirty="0"/>
          </a:p>
        </p:txBody>
      </p:sp>
      <p:sp>
        <p:nvSpPr>
          <p:cNvPr id="7" name="Text 5"/>
          <p:cNvSpPr txBox="1"/>
          <p:nvPr/>
        </p:nvSpPr>
        <p:spPr>
          <a:xfrm>
            <a:off x="548640" y="1563624"/>
            <a:ext cx="11091672" cy="960120"/>
          </a:xfrm>
          <a:prstGeom prst="rect">
            <a:avLst/>
          </a:prstGeom>
          <a:noFill/>
          <a:ln/>
        </p:spPr>
        <p:txBody>
          <a:bodyPr wrap="square" lIns="0" tIns="0" rIns="0" bIns="0" rtlCol="0" anchor="t"/>
          <a:lstStyle/>
          <a:p>
            <a:pPr indent="0" marL="0">
              <a:buNone/>
            </a:pPr>
            <a:r>
              <a:rPr lang="en-US" sz="1250" dirty="0">
                <a:solidFill>
                  <a:srgbClr val="262626"/>
                </a:solidFill>
                <a:latin typeface="Calibri" pitchFamily="34" charset="0"/>
                <a:ea typeface="Calibri" pitchFamily="34" charset="-122"/>
                <a:cs typeface="Calibri" pitchFamily="34" charset="-120"/>
              </a:rPr>
              <a:t>The four behavioural features carry exactly 0.0000 importance, because the public datasets contain no per-request source address or timestamp and those columns are zero-filled. Consequence: brute force and credential stuffing are detected entirely by the rule engine. The ML contributes nothing to two of the three attack types in scope.</a:t>
            </a:r>
            <a:endParaRPr lang="en-US" sz="1250" dirty="0"/>
          </a:p>
        </p:txBody>
      </p:sp>
      <p:sp>
        <p:nvSpPr>
          <p:cNvPr id="8" name="Text 6"/>
          <p:cNvSpPr txBox="1"/>
          <p:nvPr/>
        </p:nvSpPr>
        <p:spPr>
          <a:xfrm>
            <a:off x="548640" y="2825496"/>
            <a:ext cx="11091672" cy="292608"/>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Simulated traffic is generous to the system</a:t>
            </a:r>
            <a:endParaRPr lang="en-US" sz="1500" dirty="0"/>
          </a:p>
        </p:txBody>
      </p:sp>
      <p:sp>
        <p:nvSpPr>
          <p:cNvPr id="9" name="Text 7"/>
          <p:cNvSpPr txBox="1"/>
          <p:nvPr/>
        </p:nvSpPr>
        <p:spPr>
          <a:xfrm>
            <a:off x="548640" y="3136392"/>
            <a:ext cx="11091672" cy="960120"/>
          </a:xfrm>
          <a:prstGeom prst="rect">
            <a:avLst/>
          </a:prstGeom>
          <a:noFill/>
          <a:ln/>
        </p:spPr>
        <p:txBody>
          <a:bodyPr wrap="square" lIns="0" tIns="0" rIns="0" bIns="0" rtlCol="0" anchor="t"/>
          <a:lstStyle/>
          <a:p>
            <a:pPr indent="0" marL="0">
              <a:buNone/>
            </a:pPr>
            <a:r>
              <a:rPr lang="en-US" sz="1250" dirty="0">
                <a:solidFill>
                  <a:srgbClr val="262626"/>
                </a:solidFill>
                <a:latin typeface="Calibri" pitchFamily="34" charset="0"/>
                <a:ea typeface="Calibri" pitchFamily="34" charset="-122"/>
                <a:cs typeface="Calibri" pitchFamily="34" charset="-120"/>
              </a:rPr>
              <a:t>217 requests from one machine is not a load test. The simulated attacker does not adapt - a real one probes, observes what is blocked, and changes tactics. Real user input is also far messier than a 30-item shopping catalogue, so the true false-positive rate would be higher.</a:t>
            </a:r>
            <a:endParaRPr lang="en-US" sz="1250" dirty="0"/>
          </a:p>
        </p:txBody>
      </p:sp>
      <p:sp>
        <p:nvSpPr>
          <p:cNvPr id="10" name="Text 8"/>
          <p:cNvSpPr txBox="1"/>
          <p:nvPr/>
        </p:nvSpPr>
        <p:spPr>
          <a:xfrm>
            <a:off x="548640" y="4398264"/>
            <a:ext cx="11091672" cy="292608"/>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The 1.8% false-positive rate is small but not free</a:t>
            </a:r>
            <a:endParaRPr lang="en-US" sz="1500" dirty="0"/>
          </a:p>
        </p:txBody>
      </p:sp>
      <p:sp>
        <p:nvSpPr>
          <p:cNvPr id="11" name="Text 9"/>
          <p:cNvSpPr txBox="1"/>
          <p:nvPr/>
        </p:nvSpPr>
        <p:spPr>
          <a:xfrm>
            <a:off x="548640" y="4709160"/>
            <a:ext cx="11091672" cy="960120"/>
          </a:xfrm>
          <a:prstGeom prst="rect">
            <a:avLst/>
          </a:prstGeom>
          <a:noFill/>
          <a:ln/>
        </p:spPr>
        <p:txBody>
          <a:bodyPr wrap="square" lIns="0" tIns="0" rIns="0" bIns="0" rtlCol="0" anchor="t"/>
          <a:lstStyle/>
          <a:p>
            <a:pPr indent="0" marL="0">
              <a:buNone/>
            </a:pPr>
            <a:r>
              <a:rPr lang="en-US" sz="1250" dirty="0">
                <a:solidFill>
                  <a:srgbClr val="262626"/>
                </a:solidFill>
                <a:latin typeface="Calibri" pitchFamily="34" charset="0"/>
                <a:ea typeface="Calibri" pitchFamily="34" charset="-122"/>
                <a:cs typeface="Calibri" pitchFamily="34" charset="-120"/>
              </a:rPr>
              <a:t>At that rate an API serving one million requests per day would wrongly block roughly 18,000 legitimate requests. Production deployment would require a higher threshold, a warn-only mode for borderline scores, or per-endpoint thresholds.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Limitations (2 of 2)</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207008"/>
          <a:ext cx="11091672" cy="914400"/>
        </p:xfrm>
        <a:graphic>
          <a:graphicData uri="http://schemas.openxmlformats.org/drawingml/2006/table">
            <a:tbl>
              <a:tblPr/>
              <a:tblGrid>
                <a:gridCol w="3291840"/>
                <a:gridCol w="7799832"/>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Limitation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Honest position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566928">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Detection state is per-source and in memory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The 60-second window lives in the API process. A restart loses it, and it is not shared between instances - so a distributed attack from many addresses defeats the behavioural rules. Production would need a shared store such as Redis.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Cross-dataset generalisation not yet tested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The ATRDF 2023 set (540,057 records) is held out for exactly this purpose but the evaluation is not complete. I would not claim generalisation until it is.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566928">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No adversarial evasion testing</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The model was never attacked by an adversary actively trying to defeat it. A determined attacker could probe for payloads that score just below the threshold.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Models will drift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Trained once on datasets from 2010 to 2017. Both attack techniques and normal traffic change over time, and no retraining pipeline exists.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r h="566928">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Scope limited to three attack types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No cross-site scripting, XXE, SSRF, command injection or path traversal. The scope was deliberately narrowed.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Single instance, no high availability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algn="l" indent="0" marL="0">
                        <a:buNone/>
                      </a:pPr>
                      <a:r>
                        <a:rPr lang="en-US" sz="1200" dirty="0">
                          <a:solidFill>
                            <a:srgbClr val="262626"/>
                          </a:solidFill>
                          <a:latin typeface="Calibri" pitchFamily="34" charset="0"/>
                          <a:ea typeface="Calibri" pitchFamily="34" charset="-122"/>
                          <a:cs typeface="Calibri" pitchFamily="34" charset="-120"/>
                        </a:rPr>
                        <a:t>One instance of each service. No redundancy, failover or horizontal scaling.</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indent="0" marL="0">
              <a:buNone/>
            </a:pPr>
            <a:r>
              <a:rPr lang="en-US" sz="3000" b="1" dirty="0">
                <a:solidFill>
                  <a:srgbClr val="1F4E79"/>
                </a:solidFill>
                <a:latin typeface="Calibri" pitchFamily="34" charset="0"/>
                <a:ea typeface="Calibri" pitchFamily="34" charset="-122"/>
                <a:cs typeface="Calibri" pitchFamily="34" charset="-120"/>
              </a:rPr>
              <a:t>Conclusion</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30</a:t>
            </a:r>
            <a:endParaRPr lang="en-US" sz="900" dirty="0"/>
          </a:p>
        </p:txBody>
      </p:sp>
      <p:sp>
        <p:nvSpPr>
          <p:cNvPr id="5" name="Text 3"/>
          <p:cNvSpPr txBox="1"/>
          <p:nvPr/>
        </p:nvSpPr>
        <p:spPr>
          <a:xfrm>
            <a:off x="548640" y="1207008"/>
            <a:ext cx="11091672"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What this work establishes</a:t>
            </a:r>
            <a:endParaRPr lang="en-US" sz="1600" dirty="0"/>
          </a:p>
        </p:txBody>
      </p:sp>
      <p:sp>
        <p:nvSpPr>
          <p:cNvPr id="6" name="Text 4"/>
          <p:cNvSpPr txBox="1"/>
          <p:nvPr/>
        </p:nvSpPr>
        <p:spPr>
          <a:xfrm>
            <a:off x="548640" y="1554480"/>
            <a:ext cx="11091672" cy="2286000"/>
          </a:xfrm>
          <a:prstGeom prst="rect">
            <a:avLst/>
          </a:prstGeom>
          <a:noFill/>
          <a:ln/>
        </p:spPr>
        <p:txBody>
          <a:bodyPr wrap="square" rtlCol="0" anchor="t"/>
          <a:lstStyle/>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A working hybrid framework was designed, implemented and evaluated end to end, from raw public datasets through to a running system that inspects live traffic.</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The hybrid demonstrably catches attacks that signature rules alone allow through. This is shown by direct experiment, not asserted - stopping the ML service causes the same attack to succeed.</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The machine learning is not duplicating the rules. Feature importance shows it relies on statistical texture rather than keywords, which is what allows it to generalise to undescribed variants.</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Measurement against representative traffic exposed a defect that corpus-based evaluation could not: a 17.5% false-positive rate, diagnosed and reduced to 1.8% by a principled design change.</a:t>
            </a:r>
            <a:endParaRPr lang="en-US" sz="1350" dirty="0"/>
          </a:p>
        </p:txBody>
      </p:sp>
      <p:sp>
        <p:nvSpPr>
          <p:cNvPr id="7" name="Text 5"/>
          <p:cNvSpPr txBox="1"/>
          <p:nvPr/>
        </p:nvSpPr>
        <p:spPr>
          <a:xfrm>
            <a:off x="548640" y="395020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Future work</a:t>
            </a:r>
            <a:endParaRPr lang="en-US" sz="1600" dirty="0"/>
          </a:p>
        </p:txBody>
      </p:sp>
      <p:sp>
        <p:nvSpPr>
          <p:cNvPr id="8" name="Text 6"/>
          <p:cNvSpPr txBox="1"/>
          <p:nvPr/>
        </p:nvSpPr>
        <p:spPr>
          <a:xfrm>
            <a:off x="548640" y="4297680"/>
            <a:ext cx="5349240" cy="1554480"/>
          </a:xfrm>
          <a:prstGeom prst="rect">
            <a:avLst/>
          </a:prstGeom>
          <a:noFill/>
          <a:ln/>
        </p:spPr>
        <p:txBody>
          <a:bodyPr wrap="square" rtlCol="0" anchor="t"/>
          <a:lstStyle/>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Complete cross-dataset evaluation on the held-out ATRDF set</a:t>
            </a:r>
            <a:endParaRPr lang="en-US" sz="1250" dirty="0"/>
          </a:p>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Add a ModSecurity baseline for a like-for-like comparison</a:t>
            </a:r>
            <a:endParaRPr lang="en-US" sz="1250" dirty="0"/>
          </a:p>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Source behavioural training data with real timestamps</a:t>
            </a:r>
            <a:endParaRPr lang="en-US" sz="1250" dirty="0"/>
          </a:p>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Move window state to a shared store for horizontal scaling</a:t>
            </a:r>
            <a:endParaRPr lang="en-US" sz="1250" dirty="0"/>
          </a:p>
        </p:txBody>
      </p:sp>
      <p:sp>
        <p:nvSpPr>
          <p:cNvPr id="9" name="Text 7"/>
          <p:cNvSpPr txBox="1"/>
          <p:nvPr/>
        </p:nvSpPr>
        <p:spPr>
          <a:xfrm>
            <a:off x="6291072" y="3950208"/>
            <a:ext cx="5349240" cy="292608"/>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Closing position</a:t>
            </a:r>
            <a:endParaRPr lang="en-US" sz="1600" dirty="0"/>
          </a:p>
        </p:txBody>
      </p:sp>
      <p:sp>
        <p:nvSpPr>
          <p:cNvPr id="10" name="Shape 8"/>
          <p:cNvSpPr/>
          <p:nvPr/>
        </p:nvSpPr>
        <p:spPr>
          <a:xfrm>
            <a:off x="6291072" y="4297680"/>
            <a:ext cx="5349240" cy="1371600"/>
          </a:xfrm>
          <a:prstGeom prst="rect">
            <a:avLst/>
          </a:prstGeom>
          <a:solidFill>
            <a:srgbClr val="F2F6FA"/>
          </a:solidFill>
          <a:ln w="9525">
            <a:solidFill>
              <a:srgbClr val="BFBFBF"/>
            </a:solidFill>
            <a:prstDash val="solid"/>
          </a:ln>
        </p:spPr>
      </p:sp>
      <p:sp>
        <p:nvSpPr>
          <p:cNvPr id="11" name="Text 9"/>
          <p:cNvSpPr txBox="1"/>
          <p:nvPr/>
        </p:nvSpPr>
        <p:spPr>
          <a:xfrm>
            <a:off x="6428232" y="4407408"/>
            <a:ext cx="5074920" cy="1152144"/>
          </a:xfrm>
          <a:prstGeom prst="rect">
            <a:avLst/>
          </a:prstGeom>
          <a:noFill/>
          <a:ln/>
        </p:spPr>
        <p:txBody>
          <a:bodyPr wrap="square" lIns="0" tIns="0" rIns="0" bIns="0" rtlCol="0" anchor="t"/>
          <a:lstStyle/>
          <a:p>
            <a:pPr indent="0" marL="0">
              <a:buNone/>
            </a:pPr>
            <a:r>
              <a:rPr lang="en-US" sz="1200" dirty="0">
                <a:solidFill>
                  <a:srgbClr val="262626"/>
                </a:solidFill>
                <a:latin typeface="Calibri" pitchFamily="34" charset="0"/>
                <a:ea typeface="Calibri" pitchFamily="34" charset="-122"/>
                <a:cs typeface="Calibri" pitchFamily="34" charset="-120"/>
              </a:rPr>
              <a:t>The hybrid measurably improves detection over signature rules alone. It is not production-ready: the false-positive rate is small but not negligible, the behavioural features contribute nothing to the ML because of a dataset limitation, and it has never been tested against an adapting adversary.</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377440"/>
            <a:ext cx="10424160" cy="822960"/>
          </a:xfrm>
          <a:prstGeom prst="rect">
            <a:avLst/>
          </a:prstGeom>
          <a:noFill/>
          <a:ln/>
        </p:spPr>
        <p:txBody>
          <a:bodyPr wrap="square" lIns="0" tIns="0" rIns="0" bIns="0" rtlCol="0" anchor="ctr"/>
          <a:lstStyle/>
          <a:p>
            <a:pPr indent="0" marL="0">
              <a:buNone/>
            </a:pPr>
            <a:r>
              <a:rPr lang="en-US" sz="4000" b="1" dirty="0">
                <a:solidFill>
                  <a:srgbClr val="1F4E79"/>
                </a:solidFill>
                <a:latin typeface="Calibri" pitchFamily="34" charset="0"/>
                <a:ea typeface="Calibri" pitchFamily="34" charset="-122"/>
                <a:cs typeface="Calibri" pitchFamily="34" charset="-120"/>
              </a:rPr>
              <a:t>Questions</a:t>
            </a:r>
            <a:endParaRPr lang="en-US" sz="4000" dirty="0"/>
          </a:p>
        </p:txBody>
      </p:sp>
      <p:sp>
        <p:nvSpPr>
          <p:cNvPr id="3" name="Shape 1"/>
          <p:cNvSpPr/>
          <p:nvPr/>
        </p:nvSpPr>
        <p:spPr>
          <a:xfrm>
            <a:off x="548640" y="3337560"/>
            <a:ext cx="3657600" cy="0"/>
          </a:xfrm>
          <a:prstGeom prst="line">
            <a:avLst/>
          </a:prstGeom>
          <a:noFill/>
          <a:ln w="19050">
            <a:solidFill>
              <a:srgbClr val="2E75B6"/>
            </a:solidFill>
            <a:prstDash val="solid"/>
          </a:ln>
        </p:spPr>
      </p:sp>
      <p:sp>
        <p:nvSpPr>
          <p:cNvPr id="4" name="Text 2"/>
          <p:cNvSpPr txBox="1"/>
          <p:nvPr/>
        </p:nvSpPr>
        <p:spPr>
          <a:xfrm>
            <a:off x="548640" y="3611880"/>
            <a:ext cx="8229600" cy="914400"/>
          </a:xfrm>
          <a:prstGeom prst="rect">
            <a:avLst/>
          </a:prstGeom>
          <a:noFill/>
          <a:ln/>
        </p:spPr>
        <p:txBody>
          <a:bodyPr wrap="square" lIns="0" tIns="0" rIns="0" bIns="0" rtlCol="0" anchor="ctr"/>
          <a:lstStyle/>
          <a:p>
            <a:pPr indent="0" marL="0">
              <a:lnSpc>
                <a:spcPct val="130000"/>
              </a:lnSpc>
              <a:buNone/>
            </a:pPr>
            <a:r>
              <a:rPr lang="en-US" sz="1500" b="1" dirty="0">
                <a:solidFill>
                  <a:srgbClr val="262626"/>
                </a:solidFill>
                <a:latin typeface="Calibri" pitchFamily="34" charset="0"/>
                <a:ea typeface="Calibri" pitchFamily="34" charset="-122"/>
                <a:cs typeface="Calibri" pitchFamily="34" charset="-120"/>
              </a:rPr>
              <a:t>Live demonstration available on request</a:t>
            </a:r>
            <a:endParaRPr lang="en-US" sz="1500" dirty="0"/>
          </a:p>
          <a:p>
            <a:pPr indent="0" marL="0">
              <a:lnSpc>
                <a:spcPct val="130000"/>
              </a:lnSpc>
              <a:buNone/>
            </a:pPr>
            <a:r>
              <a:rPr lang="en-US" sz="1300" dirty="0">
                <a:solidFill>
                  <a:srgbClr val="595959"/>
                </a:solidFill>
                <a:latin typeface="Calibri" pitchFamily="34" charset="0"/>
                <a:ea typeface="Calibri" pitchFamily="34" charset="-122"/>
                <a:cs typeface="Calibri" pitchFamily="34" charset="-120"/>
              </a:rPr>
              <a:t>Full source, dataset provenance, per-phase implementation logs and measured results are in the project repository.</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algn="r" indent="0" marL="0">
              <a:buNone/>
            </a:pPr>
            <a:r>
              <a:rPr lang="en-US" sz="900" dirty="0">
                <a:solidFill>
                  <a:srgbClr val="595959"/>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APIIT / Staffordshire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Threat Detection for REST APIs</dc:title>
  <dc:subject>PptxGenJS Presentation</dc:subject>
  <dc:creator>CB016639</dc:creator>
  <cp:lastModifiedBy>CB016639</cp:lastModifiedBy>
  <cp:revision>1</cp:revision>
  <dcterms:created xsi:type="dcterms:W3CDTF">2026-08-31T02:16:25Z</dcterms:created>
  <dcterms:modified xsi:type="dcterms:W3CDTF">2026-08-31T02:16:25Z</dcterms:modified>
</cp:coreProperties>
</file>